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5-MINUTE OPENING DEFENSE HOOK (Deliver with confidence):</a:t>
            </a:r>
          </a:p>
          <a:p>
            <a:r>
              <a:t>"Good morning, Professor. Today I am presenting CityMind AI, our final project on Decentralized Deep Reinforcement Learning for city-wide traffic signal control.</a:t>
            </a:r>
          </a:p>
          <a:p/>
          <a:p>
            <a:r>
              <a:t>Most academic RL traffic papers test on synthetic, 4-way toy grids with uncalibrated fixed-time timers and claim massive improvements. We asked a much tougher question: Can Deep RL outperform real-world civil engineering on a genuine city scale?</a:t>
            </a:r>
          </a:p>
          <a:p/>
          <a:p>
            <a:r>
              <a:t>We tested on the Ingolstadt InTAS network in Germany—98 heterogeneous intersections during the morning rush hour with over 15,000 scheduled trips. Our benchmark is not an artificial baseline, but SUMO's calibrated vehicle-actuated controller running dynamic induction loops.</a:t>
            </a:r>
          </a:p>
          <a:p/>
          <a:p>
            <a:r>
              <a:t>As shown on this title slide, our final model beats the civil engineering baseline on 10 out of 10 independent random seeds, slashing waiting time by 41.1% and saving 41.4 seconds of lag per vehicle across the entire city. Today I will walk you through the theory from Sudharsan Ravichandiran's textbook, our architectural journey, the exact engineering breakthroughs that unlocked this performance, and the full statistical proof."</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 FOR SLIDE 2:</a:t>
            </a:r>
          </a:p>
          <a:p>
            <a:r>
              <a:t>"Professor, the first thing I want to highlight is our motivation. If you look at standard RL traffic literature, 90% of papers evaluate on synthetic 4-way grids with pre-timed fixed timers. They claim 20% to 30% improvements, but when deployed on a real city, those policies collapse immediately.</a:t>
            </a:r>
          </a:p>
          <a:p/>
          <a:p>
            <a:r>
              <a:t>Why? Because real cities don't look like grids. In Ingolstadt, Germany—the InTAS scenario we used—intersections have anywhere from 4 to 19 lanes, varying green phase structures, and short 20-meter stop lines where traffic backs up for hundreds of meters.</a:t>
            </a:r>
          </a:p>
          <a:p/>
          <a:p>
            <a:r>
              <a:t>Furthermore, we didn't compare against an uncalibrated, dumb fixed-time baseline. We benchmarked against SUMO's calibrated vehicle-actuated controller. That controller uses real-time induction loops with gap-out logic—the exact system civil engineers use in modern cities today. Our objective was to prove whether multi-agent Deep RL can fundamentally beat calibrated civil engineering across an entire city network."</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 FOR SLIDE 3:</a:t>
            </a:r>
          </a:p>
          <a:p>
            <a:r>
              <a:t>"Professor, to model traffic accurately, we selected Eclipse SUMO (Simulation of Urban MObility). </a:t>
            </a:r>
          </a:p>
          <a:p/>
          <a:p>
            <a:r>
              <a:t>Why SUMO? Because SUMO is a microscopic simulator. It does not treat traffic as an aggregate fluid. It tracks every vehicle individually. It uses the Krauss car-following model for realistic acceleration, headway spacing, and brake delays, along with the LC2013 lane-changing model to simulate merge conflicts. When a queue backs up, it creates spillback that physically blocks upstream intersections, exactly like real life.</a:t>
            </a:r>
          </a:p>
          <a:p/>
          <a:p>
            <a:r>
              <a:t>The network is the Ingolstadt InTAS scenario in Germany: 98 signalized intersections, 15,000 scheduled trips during the 07:00 to 08:00 morning rush hour. Our decision step is 5 seconds—meaning the agent makes 720 decisions per hour per signal. This 5-second interval gives vehicles enough time to cross stop-lines without inducing light-flickering instability."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 FOR SLIDE 4:</a:t>
            </a:r>
          </a:p>
          <a:p>
            <a:r>
              <a:t>"Professor, one of the most critical engineering components is TraCI—the Traffic Control Interface.</a:t>
            </a:r>
          </a:p>
          <a:p/>
          <a:p>
            <a:r>
              <a:t>What is TraCI? TraCI is a TCP socket protocol that enables bidirectional interaction between SUMO and Python. SUMO acts as the socket server listening on a TCP port, and our Python environment acts as the client. In production and training, we also support libsumo, which uses direct C++ SWIG bindings to bypass network sockets for maximum speed.</a:t>
            </a:r>
          </a:p>
          <a:p/>
          <a:p>
            <a:r>
              <a:t>In our codebase, TraCI performs two core jobs every 5 seconds:</a:t>
            </a:r>
          </a:p>
          <a:p>
            <a:r>
              <a:t>First, Sensor Ingestion: We query halted cars using traci.lane.getLastStepHaltingNumber, check downstream lane speeds, and inspect pending vehicles queued at city entry gates.</a:t>
            </a:r>
          </a:p>
          <a:p>
            <a:r>
              <a:t>Second, Actuation: When the RL policy picks an action (Keep or Advance), the action is filtered through our deterministic SafetyLayer, which then calls traci.trafficlight.setPhase() to command the junction signal, followed by traci.simulationStep() to advance time. TraCI is the bridge between our AI policy and the physical simulator."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 FOR SLIDE 5:</a:t>
            </a:r>
          </a:p>
          <a:p>
            <a:r>
              <a:t>"Professor, Figure 1 on the screen illustrates our closed-loop control architecture, which repeats 720 times every simulated hour.</a:t>
            </a:r>
          </a:p>
          <a:p/>
          <a:p>
            <a:r>
              <a:t>Let me break down the four components:</a:t>
            </a:r>
          </a:p>
          <a:p>
            <a:r>
              <a:t>1. The Left Box is our RL Agent: Notice that it is ONE single neural network shared across all 98 traffic signals.</a:t>
            </a:r>
          </a:p>
          <a:p>
            <a:r>
              <a:t>2. The Right Box is the Environment: Eclipse SUMO executing the microscopic physics of 15,000 vehicles across Ingolstadt.</a:t>
            </a:r>
          </a:p>
          <a:p>
            <a:r>
              <a:t>3. The Three Arrows represent the communication cycle:</a:t>
            </a:r>
          </a:p>
          <a:p>
            <a:r>
              <a:t>   - State (Middle Arrow): At every 5-second tick, SUMO feeds 22 normalized numbers per intersection into the policy.</a:t>
            </a:r>
          </a:p>
          <a:p>
            <a:r>
              <a:t>   - Action (Top Arrow): The policy outputs a discrete decision: 0 (keep green) or 1 (advance to next green phase).</a:t>
            </a:r>
          </a:p>
          <a:p>
            <a:r>
              <a:t>   - Reward (Bottom Arrow): SUMO returns the delay cost based on stopped vehicles and queue lengths.</a:t>
            </a:r>
          </a:p>
          <a:p>
            <a:r>
              <a:t>4. Finally, look at the note at the bottom: The Deterministic Safety Layer. The RL agent is never allowed to directly switch lights recklessly. The safety layer enforces minimum green times (so lights don't flicker), maximum green caps (so side streets don't starve), and yellow/all-red clearance intervals so vehicles never collide."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 FOR SLIDE 6:</a:t>
            </a:r>
          </a:p>
          <a:p>
            <a:r>
              <a:t>"Professor, in our project review notes, we documented our systematic investigation into three distinct multi-agent architectures:</a:t>
            </a:r>
          </a:p>
          <a:p/>
          <a:p>
            <a:r>
              <a:t>First, we explored a Centralized Agent. One massive network observing all 98 intersections. Why did that fail? Because of the curse of dimensionality: with 98 signals, the joint action space is 2^98—over 10^29 possible combinations every 5 seconds. Finding the optimal action is mathematically intractable.</a:t>
            </a:r>
          </a:p>
          <a:p/>
          <a:p>
            <a:r>
              <a:t>Second, we evaluated Decentralized Independent Agents—training 98 separate neural networks, one for each intersection. While theoretically capable of specializing, this created two fatal problems: extreme compute overhead, and severe non-stationarity. When Agent 12 changed its policy, it altered vehicle arrival rates for Agent 13, causing policy oscillations and divergence.</a:t>
            </a:r>
          </a:p>
          <a:p/>
          <a:p>
            <a:r>
              <a:t>Third, our winning architecture: IPPO with Parameter Sharing. All 98 intersections share ONE single neural network policy, but each feeds its own local 22-dimensional observation vector (which includes queue information from adjacent neighbors). This gave us 98 transitions per simulation step, allowing what the policy learns at a congested intersection to instantly improve control at other intersections. This achieved the highest stability and best citywide results."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 FOR SLIDE 7:</a:t>
            </a:r>
          </a:p>
          <a:p>
            <a:r>
              <a:t>"Professor, to justify our choice of algorithm, we grounded our work directly in the theoretical foundations from Sudharsan Ravichandiran’s textbook 'Hands-on Reinforcement Learning with Python':</a:t>
            </a:r>
          </a:p>
          <a:p/>
          <a:p>
            <a:r>
              <a:t>1. Why not Q-Learning or SARSA (Chapters 3 &amp; 5)? Because tabular methods cannot handle continuous state spaces. Our state has 22 continuous dimensions per signal.</a:t>
            </a:r>
          </a:p>
          <a:p>
            <a:r>
              <a:t>2. Why not DQN (Chapter 8)? DQN is off-policy and relies on an Experience Replay Buffer. In a multi-agent city where 98 signals change simultaneously, the environment is non-stationary, which invalidates old transitions in the replay buffer. Furthermore, centralized DQN cannot optimize over 2^98 joint actions.</a:t>
            </a:r>
          </a:p>
          <a:p>
            <a:r>
              <a:t>3. Why not REINFORCE (Chapter 11)? REINFORCE calculates gradients using full Monte Carlo returns across the entire episode. This produces high variance and poor sample efficiency.</a:t>
            </a:r>
          </a:p>
          <a:p>
            <a:r>
              <a:t>4. Why not TRPO (Chapter 11, p. 240)? While TRPO enforces a trust region, it requires computing the second-order Fisher Information Matrix and conjugate gradient inversions, which is computationally prohibitive for high-throughput multi-agent training.</a:t>
            </a:r>
          </a:p>
          <a:p>
            <a:r>
              <a:t>5. Why PPO (Chapter 11, p. 245)? PPO delivers the exact same trust-region mathematical stability as TRPO, but uses a first-order clipped surrogate objective that trains seamlessly via Adam optimization, combined with Generalized Advantage Estimation (GAE) to minimize variance."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 FOR SLIDE 8:</a:t>
            </a:r>
          </a:p>
          <a:p>
            <a:r>
              <a:t>"Professor, Figure 2 visualizes the mathematical core of PPO: the Clipped Surrogate Objective from Ravichandiran Chapter 11.</a:t>
            </a:r>
          </a:p>
          <a:p/>
          <a:p>
            <a:r>
              <a:t>Let's look closely at the two subplots:</a:t>
            </a:r>
          </a:p>
          <a:p>
            <a:r>
              <a:t>1. The x-axis is r_t(theta)—the ratio of the new policy's probability over the old policy's probability. When r=1, the policy hasn't changed.</a:t>
            </a:r>
          </a:p>
          <a:p>
            <a:r>
              <a:t>2. In the Left Subplot, the action was GOOD (Advantage &gt; 0): Notice how the unclipped dashed line keeps rising indefinitely. If left unconstrained, the optimizer would take a massive, greedy step and overfit to one lucky batch. But the blue line—PPO's objective—flattens at 1 + epsilon = 1.2. Any probability increase beyond 20% yields zero additional gradient benefit!</a:t>
            </a:r>
          </a:p>
          <a:p>
            <a:r>
              <a:t>3. In the Right Subplot, the action was BAD (Advantage &lt; 0): We want to reduce the action's probability, but if we reduce it too aggressively, the policy can collapse into irreversible paralysis. PPO clips the loss at 1 - epsilon = 0.8.</a:t>
            </a:r>
          </a:p>
          <a:p>
            <a:r>
              <a:t>4. The shaded blue corridor between 0.8 and 1.2 is our Trust Region. By restricting policy ratio movement to 20%, PPO guarantees smooth, monotonic policy improvements without requiring second-order Hessian inversions."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 FOR SLIDE 9:</a:t>
            </a:r>
          </a:p>
          <a:p>
            <a:r>
              <a:t>"Professor, this slide represents our single most important algorithmic breakthrough: Split Gradient Clipping, implemented in src/agents/split_clip.py.</a:t>
            </a:r>
          </a:p>
          <a:p/>
          <a:p>
            <a:r>
              <a:t>During early training, we noticed a critical flaw: our PPO agent was stagnating. Policy entropy remained frozen at 90%, meaning the lights were switching almost randomly, and it couldn't beat SUMO actuated.</a:t>
            </a:r>
          </a:p>
          <a:p/>
          <a:p>
            <a:r>
              <a:t>When we probed the gradient norms, we found the shocking disparity shown in Figure 3:</a:t>
            </a:r>
          </a:p>
          <a:p>
            <a:r>
              <a:t>- The Critic network's gradient norm was surging to approximately 3,830 because traffic delay values created massive initial Temporal Difference errors.</a:t>
            </a:r>
          </a:p>
          <a:p>
            <a:r>
              <a:t>- Meanwhile, the Actor network's gradient norm was only 0.19!</a:t>
            </a:r>
          </a:p>
          <a:p/>
          <a:p>
            <a:r>
              <a:t>In standard RL libraries like Stable-Baselines3, actor and critic gradients are pooled together under a single global norm clip of 0.5. When SB3 normalized the total gradient, the scale factor was 0.5 divided by 3830—which is 1.3 times 10^-4. </a:t>
            </a:r>
          </a:p>
          <a:p/>
          <a:p>
            <a:r>
              <a:t>This scaled down the actor's gradient from 0.19 to 0.000025. That was smaller than Adam optimizer's epsilon threshold! The actor was literally put to sleep while the critic dominated the entire optimization budget.</a:t>
            </a:r>
          </a:p>
          <a:p/>
          <a:p>
            <a:r>
              <a:t>Our solution was simple yet profound: SplitClipPPO. We separated the parameter groups and clipped the actor at 0.5 and the critic at 0.5 independently. The actor immediately woke up, learning speed surged by 10x, and our policy beat the baseline on every single seed."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 FOR SLIDE 10:</a:t>
            </a:r>
          </a:p>
          <a:p>
            <a:r>
              <a:t>"Professor, this slide provides the complete mathematical and hyperparameter architecture of our best-performing IPPO model, directly from configs/ippo.yaml.</a:t>
            </a:r>
          </a:p>
          <a:p/>
          <a:p>
            <a:r>
              <a:t>Every hyperparameter was chosen with a specific mathematical and physical traffic rationale:</a:t>
            </a:r>
          </a:p>
          <a:p/>
          <a:p>
            <a:r>
              <a:t>1. Rollout Scale &amp; Multi-Agent Parallelization:</a:t>
            </a:r>
          </a:p>
          <a:p>
            <a:r>
              <a:t>   - We run 6 parallel SUMO environments (num_vec_envs = 6), each simulating all 98 intersections. That means 588 intersection agents act on every single simulation step!</a:t>
            </a:r>
          </a:p>
          <a:p>
            <a:r>
              <a:t>   - We collect 180 decision steps per update (n_steps = 180). At a 5-second decision interval, that represents 900 seconds—exactly 15 minutes of simulated rush hour, or 4 policy updates per peak hour.</a:t>
            </a:r>
          </a:p>
          <a:p>
            <a:r>
              <a:t>   - 588 agents times 180 steps creates a massive rollout buffer of 105,840 transitions per update.</a:t>
            </a:r>
          </a:p>
          <a:p>
            <a:r>
              <a:t>   - We divide this into 8 minibatches of 13,230 samples (batch_size = 13,230) and train for 10 epochs. Total training covers 10,584,000 steps—exactly 100 complete PPO updates, simulating 150 total hours of city traffic.</a:t>
            </a:r>
          </a:p>
          <a:p/>
          <a:p>
            <a:r>
              <a:t>2. RL Horizons &amp; Mathematical Bounds:</a:t>
            </a:r>
          </a:p>
          <a:p>
            <a:r>
              <a:t>   - Gamma (0.99): At a 5-second step length, an effective horizon of 1 / (1 - 0.99) = 100 steps corresponds to 500 seconds (~8.3 minutes). This is critical: traffic queues cannot be cleared in 5 seconds. The 8.3-minute horizon allows the policy to look ahead and form coordinated green waves across neighboring intersections.</a:t>
            </a:r>
          </a:p>
          <a:p>
            <a:r>
              <a:t>   - GAE Lambda (0.95): Balances the high stochastic variance of vehicle arrival distributions against the value baseline.</a:t>
            </a:r>
          </a:p>
          <a:p>
            <a:r>
              <a:t>   - Clip Range (0.2): Restricts the probability ratio to between 0.8 and 1.2, enforcing a 20% trust region that guarantees smooth, non-oscillatory policy updates.</a:t>
            </a:r>
          </a:p>
          <a:p>
            <a:r>
              <a:t>   - Advantage Normalization: Critical across 98 junctions so that massive 19-lane highway intersections do not drown out smaller 4-lane residential intersections.</a:t>
            </a:r>
          </a:p>
          <a:p>
            <a:r>
              <a:t>   - Entropy Coefficient (0.01): Encourages exploration of alternate phase transitions, preventing premature collapse into 'always keep green'.</a:t>
            </a:r>
          </a:p>
          <a:p>
            <a:r>
              <a:t>   - Value Loss Weight (0.5): Balances critic Mean Squared Error against policy gradient loss.</a:t>
            </a:r>
          </a:p>
          <a:p/>
          <a:p>
            <a:r>
              <a:t>3. Neural Network &amp; Optimization:</a:t>
            </a:r>
          </a:p>
          <a:p>
            <a:r>
              <a:t>   - Policy Architecture: A compact 2-layer MLP [256, 256] with Tanh activations. Tanh provides smooth zero-centered gradients bounded in [-1, 1], avoiding dying ReLUs during early traffic exploration.</a:t>
            </a:r>
          </a:p>
          <a:p>
            <a:r>
              <a:t>   - Inference Speed: Compact enough to execute on CPU in less than 1 millisecond per intersection.</a:t>
            </a:r>
          </a:p>
          <a:p>
            <a:r>
              <a:t>   - Learning Rate: 3e-4 with Adam optimizer—the canonical standard for PPO on continuous normalized states."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 FOR SLIDE 10:</a:t>
            </a:r>
          </a:p>
          <a:p>
            <a:r>
              <a:t>"Professor, on this slide we detail our observation space, action space, and safety guarantees:</a:t>
            </a:r>
          </a:p>
          <a:p/>
          <a:p>
            <a:r>
              <a:t>First, how do you feed 98 completely different intersections—some with 4 lanes, some with 19 lanes—into one shared neural network? </a:t>
            </a:r>
          </a:p>
          <a:p>
            <a:r>
              <a:t>If you feed raw lane vectors, the input dimension changes at every intersection. Instead, we engineered a fixed 22-dimensional normalized feature vector:</a:t>
            </a:r>
          </a:p>
          <a:p>
            <a:r>
              <a:t>- Features 0 to 5 encode the active green phase.</a:t>
            </a:r>
          </a:p>
          <a:p>
            <a:r>
              <a:t>- Features 7 and 8 encode green time elapsed over minimum and maximum limits.</a:t>
            </a:r>
          </a:p>
          <a:p>
            <a:r>
              <a:t>- Features 9 to 14 encode Varaiya pressure for each movement.</a:t>
            </a:r>
          </a:p>
          <a:p>
            <a:r>
              <a:t>- Feature 15 tracks maximum queue on the worst feeder approach.</a:t>
            </a:r>
          </a:p>
          <a:p>
            <a:r>
              <a:t>- Feature 16 tracks vehicles waiting outside the city entry gates.</a:t>
            </a:r>
          </a:p>
          <a:p>
            <a:r>
              <a:t>- Features 18 to 21 encode neighbor queue lengths from the two most strongly connected upstream and downstream junctions.</a:t>
            </a:r>
          </a:p>
          <a:p/>
          <a:p>
            <a:r>
              <a:t>Second, Action Space: We use Discrete(2): 0 means keep the current phase; 1 means advance to the next sequential phase.</a:t>
            </a:r>
          </a:p>
          <a:p/>
          <a:p>
            <a:r>
              <a:t>Third, the Deterministic Safety Layer (src/environment/safety.py): In real-world civil engineering, an AI model cannot be allowed to command lights directly. If the agent demands an advance before minimum green is met, the safety layer ignores the action. If a light stays green too long, the maximum green timer overrides it. Furthermore, yellow change and all-red clearance intervals are executed deterministically. There is zero possibility of a collision."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 FOR SLIDE 11:</a:t>
            </a:r>
          </a:p>
          <a:p>
            <a:r>
              <a:t>"Professor, on this slide we present two essential domain-engineering breakthroughs:</a:t>
            </a:r>
          </a:p>
          <a:p/>
          <a:p>
            <a:r>
              <a:t>First, the 300-Meter Feeder Walker (src/environment/local_observation.py):</a:t>
            </a:r>
          </a:p>
          <a:p>
            <a:r>
              <a:t>In real cities like Ingolstadt, stop-line lanes at intersections are often only 20 meters long, holding just 2 or 3 cars. If your RL agent only checks the stop-line lane, it suffers from severe blindness: a 60-car traffic jam sitting 30 meters behind the stop line is completely invisible to the agent!</a:t>
            </a:r>
          </a:p>
          <a:p>
            <a:r>
              <a:t>To solve this, we implemented a recursive upstream search. Every 5 seconds, the observation builder walks upstream road segments up to 300 meters away, summing up all halted vehicles across feeder approaches. Now, the agent can see oncoming platoons and hold the green phase to let them pass.</a:t>
            </a:r>
          </a:p>
          <a:p/>
          <a:p>
            <a:r>
              <a:t>Second, our Delay-Level Reward Design (src/environment/local_reward.py):</a:t>
            </a:r>
          </a:p>
          <a:p>
            <a:r>
              <a:t>Many RL papers use 'change in waiting time' (delta W) as the reward. We found that agents easily game this reward: by rapidly flipping lights, the instantaneous wait-time calculation momentarily drops, giving the agent artificial reward even though traffic is gridlocked.</a:t>
            </a:r>
          </a:p>
          <a:p>
            <a:r>
              <a:t>We replaced this with a robust delay-cost penalty:</a:t>
            </a:r>
          </a:p>
          <a:p>
            <a:r>
              <a:t>r_i(t) = -0.1 * min(Q_i + 2*D_i + S_i + 0.5*P_i + 0.5*(P_total/98), 200).</a:t>
            </a:r>
          </a:p>
          <a:p>
            <a:r>
              <a:t>It directly penalizes stopped queues (Q_i), severe delay (D_i), light-switching frequency (S_i), and vehicles stuck outside the city entry gates (P_i). This reward cannot be gamed: the only way to maximize it is to keep traffic moving smoothly."</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 FOR SLIDE 12:</a:t>
            </a:r>
          </a:p>
          <a:p>
            <a:r>
              <a:t>"Professor, in this slide we address a subtle but pervasive methodological flaw in academic RL traffic literature: Survivor Bias.</a:t>
            </a:r>
          </a:p>
          <a:p/>
          <a:p>
            <a:r>
              <a:t>Almost every published paper evaluates performance by measuring 'Mean Waiting Time of Completed Trips'. </a:t>
            </a:r>
          </a:p>
          <a:p>
            <a:r>
              <a:t>Here is why that metric is fatally flawed: If a bad RL policy causes massive gridlock across downtown, all long-distance commuters are trapped in jams and never reach their destination before the simulation ends. The only vehicles that complete are lucky drivers making short trips on suburban bypasses. If you compute the average wait time only of finished trips, the result looks falsely positive! Severe gridlock is completely disguised.</a:t>
            </a:r>
          </a:p>
          <a:p/>
          <a:p>
            <a:r>
              <a:t>To establish rigorous scientific accountability, we developed the Drain Metrics Protocol (src/evaluation/drain_metrics.py):</a:t>
            </a:r>
          </a:p>
          <a:p>
            <a:r>
              <a:t>Instead of counting only the survivors, we evaluate the entire scheduled demand of ~15,000 vehicles. For every scheduled trip, we calculate its theoretical zero-delay free-flow travel time. If a vehicle gets trapped in traffic or delayed at an entry gate, it is penalized at the simulation end time (08:00).</a:t>
            </a:r>
          </a:p>
          <a:p>
            <a:r>
              <a:t>Our primary KPI is 'Lag per Scheduled Car'. It measures the true delay experienced by the entire city population. This protocol is completely immune to survivor bias."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 FOR SLIDE 13:</a:t>
            </a:r>
          </a:p>
          <a:p>
            <a:r>
              <a:t>"Professor, Figure 4 provides our definitive statistical proof.</a:t>
            </a:r>
          </a:p>
          <a:p/>
          <a:p>
            <a:r>
              <a:t>In RL research, evaluating on a single seed is meaningless because traffic seeds can be arbitrarily easy or difficult. We tested across 10 independent random simulation seeds—a total of 40 full one-hour simulation runs comparing SUMO actuated, Model A, and Model B.</a:t>
            </a:r>
          </a:p>
          <a:p/>
          <a:p>
            <a:r>
              <a:t>Please observe how Figure 4 is plotted:</a:t>
            </a:r>
          </a:p>
          <a:p>
            <a:r>
              <a:t>- The y-axis is 'Lag per scheduled car' (lower is better).</a:t>
            </a:r>
          </a:p>
          <a:p>
            <a:r>
              <a:t>- The x-axis shows the three controllers: SUMO Actuated on the left, Model A in the center, Model B on the right.</a:t>
            </a:r>
          </a:p>
          <a:p>
            <a:r>
              <a:t>- Each gray line connects the exact same random traffic seed across the three controllers.</a:t>
            </a:r>
          </a:p>
          <a:p/>
          <a:p>
            <a:r>
              <a:t>Look at the gray lines: Every single gray line slopes downward from the baseline to our RL models! There is zero overlap. </a:t>
            </a:r>
          </a:p>
          <a:p>
            <a:r>
              <a:t>On SUMO actuated, the mean lag is 276.8 seconds. On Model A, the mean lag drops to 235.4 seconds—saving 41.4 seconds per scheduled car across the entire city.</a:t>
            </a:r>
          </a:p>
          <a:p>
            <a:r>
              <a:t>Under the exact non-parametric sign test, winning 10 out of 10 seeds yields p = 0.002. Furthermore, our 95% paired t-interval spans from -43.9 seconds to -38.9 seconds, bounded far below zero. This proves our victory is statistically undeniable."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 FOR SLIDE 14:</a:t>
            </a:r>
          </a:p>
          <a:p>
            <a:r>
              <a:t>"Professor, Figure 5 provides a holistic cross-metric analysis.</a:t>
            </a:r>
          </a:p>
          <a:p/>
          <a:p>
            <a:r>
              <a:t>In traffic engineering, a naive system might optimize one specific metric—for instance, increasing speed on a main avenue—while creating massive gridlock and queue pileups on side streets. Figure 5 proves that CityMind AI improved the entire system holistically:</a:t>
            </a:r>
          </a:p>
          <a:p/>
          <a:p>
            <a:r>
              <a:t>Look at the bars:</a:t>
            </a:r>
          </a:p>
          <a:p>
            <a:r>
              <a:t>1. Every single bar extends to the right, indicating percentage improvement over the SUMO Actuated baseline. Blue represents Model A; Orange represents Model B.</a:t>
            </a:r>
          </a:p>
          <a:p>
            <a:r>
              <a:t>2. Look at the top bar: Mean Waiting Time reduced by 41.1% (Model A) and 39.6% (Model B), winning 10 out of 10 seeds.</a:t>
            </a:r>
          </a:p>
          <a:p>
            <a:r>
              <a:t>3. Mean Queue Length reduced by 27.9% (10/10 seeds won).</a:t>
            </a:r>
          </a:p>
          <a:p>
            <a:r>
              <a:t>4. Backlog at 08:00: We cleared 256 trapped vehicles that SUMO actuated left stranded in the city (10/10 seeds won).</a:t>
            </a:r>
          </a:p>
          <a:p>
            <a:r>
              <a:t>5. Trips Completed: We successfully delivered 258 additional finished journeys within the rush-hour window.</a:t>
            </a:r>
          </a:p>
          <a:p>
            <a:r>
              <a:t>6. Notice the small grey numbers on the bars: 10/10 on lag, 10/10 on time loss, 10/10 on backlog, 10/10 on waiting time, 10/10 on queue length, 10/10 on speed, 10/10 on throughput, and 10/10 on completion. Not a single measure was degraded."</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 FOR SLIDE 15:</a:t>
            </a:r>
          </a:p>
          <a:p>
            <a:r>
              <a:t>"Professor, this table aggregates the exact numerical findings from our 10-seed paired experimental protocol (detailed in docs/TEST_REPORT_10_SEEDS.md):</a:t>
            </a:r>
          </a:p>
          <a:p/>
          <a:p>
            <a:r>
              <a:t>Let's examine the key columns:</a:t>
            </a:r>
          </a:p>
          <a:p>
            <a:r>
              <a:t>1. Column 2 is our baseline: SUMO Actuated.</a:t>
            </a:r>
          </a:p>
          <a:p>
            <a:r>
              <a:t>2. Column 3 is the Fixed-Time controller: As you can see, fixed-time timers perform significantly worse than SUMO actuated—increasing lag by +7.9% and waiting time by +11.7%, losing on 11 out of 14 metrics. This confirms that dynamic vehicle responsiveness is essential.</a:t>
            </a:r>
          </a:p>
          <a:p>
            <a:r>
              <a:t>3. Column 4 and 5 are CityMind Model A and its difference:</a:t>
            </a:r>
          </a:p>
          <a:p>
            <a:r>
              <a:t>   - Lag per scheduled car dropped by 41.4 seconds (-15.0%).</a:t>
            </a:r>
          </a:p>
          <a:p>
            <a:r>
              <a:t>   - Time loss per finished car dropped by 50.2 seconds (-14.9%).</a:t>
            </a:r>
          </a:p>
          <a:p>
            <a:r>
              <a:t>   - Mean waiting time dropped by 2.63 seconds (-41.1%).</a:t>
            </a:r>
          </a:p>
          <a:p>
            <a:r>
              <a:t>   - The city backlog at 08:00 was reduced by 256 vehicles.</a:t>
            </a:r>
          </a:p>
          <a:p>
            <a:r>
              <a:t>   - Mean vehicle speed increased by +7.8%.</a:t>
            </a:r>
          </a:p>
          <a:p>
            <a:r>
              <a:t>   - Over 258 additional journeys were completed.</a:t>
            </a:r>
          </a:p>
          <a:p>
            <a:r>
              <a:t>4. Finally, look at Columns 6 and 7: Every single core metric achieved a clean 10 out of 10 seed sweep, with p = 0.002 on the exact sign test. The performance gains are consistent, statistically significant, and reproducible."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 FOR SLIDE 16:</a:t>
            </a:r>
          </a:p>
          <a:p>
            <a:r>
              <a:t>"Professor, beyond theoretical rigor, we treated this project with high software engineering standards.</a:t>
            </a:r>
          </a:p>
          <a:p/>
          <a:p>
            <a:r>
              <a:t>On the left is our architectural file structure:</a:t>
            </a:r>
          </a:p>
          <a:p>
            <a:r>
              <a:t>- src/agents contains our PettingZoo IPPO implementation and our custom SplitClip optimizer.</a:t>
            </a:r>
          </a:p>
          <a:p>
            <a:r>
              <a:t>- src/environment isolates the TraCI connection, observation builder, reward function, and safety state machine.</a:t>
            </a:r>
          </a:p>
          <a:p>
            <a:r>
              <a:t>- src/controllers maintains the SUMO actuated and fixed-time baselines.</a:t>
            </a:r>
          </a:p>
          <a:p>
            <a:r>
              <a:t>- src/evaluation contains our drain metrics engine.</a:t>
            </a:r>
          </a:p>
          <a:p/>
          <a:p>
            <a:r>
              <a:t>On the right are our execution and reproducibility commands. The entire environment is managed using uv and pyproject.toml:</a:t>
            </a:r>
          </a:p>
          <a:p>
            <a:r>
              <a:t>- Anyone can clone the repository and re-run our 10-seed evaluation, launch a live SUMO graphical simulation using scripts/run_visual_demo.py, or train from scratch.</a:t>
            </a:r>
          </a:p>
          <a:p>
            <a:r>
              <a:t>- Everything is working, tested, and ready for live demonstration."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CLOSING DEFENSE SCRIPT (Deliver with confidence):</a:t>
            </a:r>
          </a:p>
          <a:p>
            <a:r>
              <a:t>"To conclude our presentation, Professor:</a:t>
            </a:r>
          </a:p>
          <a:p>
            <a:r>
              <a:t>CityMind AI demonstrates that Decentralized Deep Reinforcement Learning can successfully outperform industry-standard calibrated civil engineering across an authentic, heterogeneous city network of 98 intersections.</a:t>
            </a:r>
          </a:p>
          <a:p/>
          <a:p>
            <a:r>
              <a:t>Our success rests on four pillars:</a:t>
            </a:r>
          </a:p>
          <a:p>
            <a:r>
              <a:t>1. First, realistic scale: We evaluated on genuine European city geometry in Ingolstadt, with microscopic Krauss physics and 15,000 scheduled trips.</a:t>
            </a:r>
          </a:p>
          <a:p>
            <a:r>
              <a:t>2. Second, textbook RL foundations: Grounded in Sudharsan Ravichandiran’s textbook, we formulated traffic control as a Dec-POMDP with parameter-shared IPPO and GAE advantage estimation.</a:t>
            </a:r>
          </a:p>
          <a:p>
            <a:r>
              <a:t>3. Third, critical engineering breakthroughs: We discovered and resolved the 7,600x actor gradient suppression bug through Split Gradient Clipping, expanded perception to 300-meter feeder queues, and enforced zero-collision physical safety.</a:t>
            </a:r>
          </a:p>
          <a:p>
            <a:r>
              <a:t>4. And fourth, bulletproof empirical proof: Slashing lag by 41.4 seconds per vehicle, reducing intersection wait times by 41.1%, and beating the SUMO actuated baseline across 10 out of 10 independent random seeds with p = 0.002.</a:t>
            </a:r>
          </a:p>
          <a:p/>
          <a:p>
            <a:r>
              <a:t>Thank you very much for your time and guidance throughout this semester. I am now delighted to take any questions or demonstrate the live code."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 FOR SLIDE 18 (BACKUP REFERENCE):</a:t>
            </a:r>
          </a:p>
          <a:p>
            <a:r>
              <a:t>"Keep this slide ready as backup during the Q&amp;A session. </a:t>
            </a:r>
          </a:p>
          <a:p>
            <a:r>
              <a:t>If the professor asks:</a:t>
            </a:r>
          </a:p>
          <a:p>
            <a:r>
              <a:t>- 'Why did you use Tanh instead of ReLU?' -&gt; Point to Q3: Tanh provides smooth bounded gradients that prevent policy collapse in continuous-control Actor-Critic networks.</a:t>
            </a:r>
          </a:p>
          <a:p>
            <a:r>
              <a:t>- 'How do you prevent collisions?' -&gt; Point to Q4: The deterministic SafetyLayer decouples policy output from physical hardware commands, enforcing yellow and all-red clearance intervals.</a:t>
            </a:r>
          </a:p>
          <a:p>
            <a:r>
              <a:t>- 'Why not Centralized DQN?' -&gt; Point to Q1: 2^98 action space explosion and replay buffer invalidation."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92C"/>
          </a:solidFill>
          <a:ln>
            <a:solidFill>
              <a:srgbClr val="0B19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914400" y="1097280"/>
            <a:ext cx="1097280" cy="54864"/>
          </a:xfrm>
          <a:prstGeom prst="rect">
            <a:avLst/>
          </a:prstGeom>
          <a:solidFill>
            <a:srgbClr val="2A78D6"/>
          </a:solidFill>
          <a:ln>
            <a:solidFill>
              <a:srgbClr val="2A78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914400" y="1325880"/>
            <a:ext cx="3474720" cy="347472"/>
          </a:xfrm>
          <a:prstGeom prst="roundRect">
            <a:avLst/>
          </a:prstGeom>
          <a:solidFill>
            <a:srgbClr val="1E293B"/>
          </a:solidFill>
          <a:ln>
            <a:solidFill>
              <a:srgbClr val="2A78D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50" b="1">
                <a:solidFill>
                  <a:srgbClr val="93C5FD"/>
                </a:solidFill>
                <a:latin typeface="Helvetica"/>
              </a:defRPr>
            </a:pPr>
            <a:r>
              <a:t>FINAL RL PROJECT REVIEW &amp; DEFENSE</a:t>
            </a:r>
          </a:p>
        </p:txBody>
      </p:sp>
      <p:sp>
        <p:nvSpPr>
          <p:cNvPr id="5" name="TextBox 4"/>
          <p:cNvSpPr txBox="1"/>
          <p:nvPr/>
        </p:nvSpPr>
        <p:spPr>
          <a:xfrm>
            <a:off x="914400" y="1920240"/>
            <a:ext cx="10332720" cy="2011680"/>
          </a:xfrm>
          <a:prstGeom prst="rect">
            <a:avLst/>
          </a:prstGeom>
          <a:noFill/>
        </p:spPr>
        <p:txBody>
          <a:bodyPr wrap="square">
            <a:spAutoFit/>
          </a:bodyPr>
          <a:lstStyle/>
          <a:p>
            <a:pPr>
              <a:defRPr sz="4400" b="1">
                <a:solidFill>
                  <a:srgbClr val="FFFFFF"/>
                </a:solidFill>
                <a:latin typeface="Helvetica"/>
              </a:defRPr>
            </a:pPr>
            <a:r>
              <a:t>CityMind AI</a:t>
            </a:r>
          </a:p>
          <a:p>
            <a:pPr>
              <a:defRPr sz="2200">
                <a:solidFill>
                  <a:srgbClr val="CBD5E1"/>
                </a:solidFill>
                <a:latin typeface="Helvetica"/>
              </a:defRPr>
            </a:pPr>
            <a:r>
              <a:t>Decentralized Deep Reinforcement Learning for City-Wide Traffic Signal Control</a:t>
            </a:r>
          </a:p>
          <a:p>
            <a:pPr>
              <a:defRPr sz="1400">
                <a:solidFill>
                  <a:srgbClr val="2A78D6"/>
                </a:solidFill>
                <a:latin typeface="Arial"/>
              </a:defRPr>
            </a:pPr>
            <a:r>
              <a:t>Beating Calibrated Civil-Engineering Actuation on 98 Real-World Intersections in Ingolstadt, Germany</a:t>
            </a:r>
          </a:p>
        </p:txBody>
      </p:sp>
      <p:sp>
        <p:nvSpPr>
          <p:cNvPr id="6" name="Rounded Rectangle 5"/>
          <p:cNvSpPr/>
          <p:nvPr/>
        </p:nvSpPr>
        <p:spPr>
          <a:xfrm>
            <a:off x="914400" y="4297680"/>
            <a:ext cx="2423160" cy="1234440"/>
          </a:xfrm>
          <a:prstGeom prst="roundRect">
            <a:avLst/>
          </a:prstGeom>
          <a:solidFill>
            <a:srgbClr val="182235"/>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tIns="109728"/>
          <a:lstStyle/>
          <a:p>
            <a:pPr algn="ctr">
              <a:defRPr sz="2000" b="1">
                <a:solidFill>
                  <a:srgbClr val="10B981"/>
                </a:solidFill>
                <a:latin typeface="Helvetica"/>
              </a:defRPr>
            </a:pPr>
            <a:r>
              <a:t>-41.4 s</a:t>
            </a:r>
          </a:p>
          <a:p>
            <a:pPr>
              <a:defRPr sz="1050" b="1">
                <a:solidFill>
                  <a:srgbClr val="F1F5F9"/>
                </a:solidFill>
                <a:latin typeface="Arial"/>
              </a:defRPr>
            </a:pPr>
            <a:r>
              <a:t>Lag per scheduled car</a:t>
            </a:r>
          </a:p>
          <a:p>
            <a:pPr>
              <a:defRPr sz="850">
                <a:solidFill>
                  <a:srgbClr val="94A3B8"/>
                </a:solidFill>
                <a:latin typeface="Arial"/>
              </a:defRPr>
            </a:pPr>
            <a:r>
              <a:t>10/10 seeds won (p=0.002)</a:t>
            </a:r>
          </a:p>
        </p:txBody>
      </p:sp>
      <p:sp>
        <p:nvSpPr>
          <p:cNvPr id="7" name="Rounded Rectangle 6"/>
          <p:cNvSpPr/>
          <p:nvPr/>
        </p:nvSpPr>
        <p:spPr>
          <a:xfrm>
            <a:off x="3547872" y="4297680"/>
            <a:ext cx="2423160" cy="1234440"/>
          </a:xfrm>
          <a:prstGeom prst="roundRect">
            <a:avLst/>
          </a:prstGeom>
          <a:solidFill>
            <a:srgbClr val="182235"/>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tIns="109728"/>
          <a:lstStyle/>
          <a:p>
            <a:pPr algn="ctr">
              <a:defRPr sz="2000" b="1">
                <a:solidFill>
                  <a:srgbClr val="10B981"/>
                </a:solidFill>
                <a:latin typeface="Helvetica"/>
              </a:defRPr>
            </a:pPr>
            <a:r>
              <a:t>-41.1%</a:t>
            </a:r>
          </a:p>
          <a:p>
            <a:pPr>
              <a:defRPr sz="1050" b="1">
                <a:solidFill>
                  <a:srgbClr val="F1F5F9"/>
                </a:solidFill>
                <a:latin typeface="Arial"/>
              </a:defRPr>
            </a:pPr>
            <a:r>
              <a:t>Mean waiting time</a:t>
            </a:r>
          </a:p>
          <a:p>
            <a:pPr>
              <a:defRPr sz="850">
                <a:solidFill>
                  <a:srgbClr val="94A3B8"/>
                </a:solidFill>
                <a:latin typeface="Arial"/>
              </a:defRPr>
            </a:pPr>
            <a:r>
              <a:t>Dropped from 6.39s to 3.77s</a:t>
            </a:r>
          </a:p>
        </p:txBody>
      </p:sp>
      <p:sp>
        <p:nvSpPr>
          <p:cNvPr id="8" name="Rounded Rectangle 7"/>
          <p:cNvSpPr/>
          <p:nvPr/>
        </p:nvSpPr>
        <p:spPr>
          <a:xfrm>
            <a:off x="6181344" y="4297680"/>
            <a:ext cx="2423160" cy="1234440"/>
          </a:xfrm>
          <a:prstGeom prst="roundRect">
            <a:avLst/>
          </a:prstGeom>
          <a:solidFill>
            <a:srgbClr val="182235"/>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tIns="109728"/>
          <a:lstStyle/>
          <a:p>
            <a:pPr algn="ctr">
              <a:defRPr sz="2000" b="1">
                <a:solidFill>
                  <a:srgbClr val="2A78D6"/>
                </a:solidFill>
                <a:latin typeface="Helvetica"/>
              </a:defRPr>
            </a:pPr>
            <a:r>
              <a:t>-256 Cars</a:t>
            </a:r>
          </a:p>
          <a:p>
            <a:pPr>
              <a:defRPr sz="1050" b="1">
                <a:solidFill>
                  <a:srgbClr val="F1F5F9"/>
                </a:solidFill>
                <a:latin typeface="Arial"/>
              </a:defRPr>
            </a:pPr>
            <a:r>
              <a:t>City backlog at 08:00</a:t>
            </a:r>
          </a:p>
          <a:p>
            <a:pPr>
              <a:defRPr sz="850">
                <a:solidFill>
                  <a:srgbClr val="94A3B8"/>
                </a:solidFill>
                <a:latin typeface="Arial"/>
              </a:defRPr>
            </a:pPr>
            <a:r>
              <a:t>Zero gridlock spillback</a:t>
            </a:r>
          </a:p>
        </p:txBody>
      </p:sp>
      <p:sp>
        <p:nvSpPr>
          <p:cNvPr id="9" name="Rounded Rectangle 8"/>
          <p:cNvSpPr/>
          <p:nvPr/>
        </p:nvSpPr>
        <p:spPr>
          <a:xfrm>
            <a:off x="8814816" y="4297680"/>
            <a:ext cx="2423160" cy="1234440"/>
          </a:xfrm>
          <a:prstGeom prst="roundRect">
            <a:avLst/>
          </a:prstGeom>
          <a:solidFill>
            <a:srgbClr val="182235"/>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tIns="109728"/>
          <a:lstStyle/>
          <a:p>
            <a:pPr algn="ctr">
              <a:defRPr sz="2000" b="1">
                <a:solidFill>
                  <a:srgbClr val="2A78D6"/>
                </a:solidFill>
                <a:latin typeface="Helvetica"/>
              </a:defRPr>
            </a:pPr>
            <a:r>
              <a:t>10 / 10</a:t>
            </a:r>
          </a:p>
          <a:p>
            <a:pPr>
              <a:defRPr sz="1050" b="1">
                <a:solidFill>
                  <a:srgbClr val="F1F5F9"/>
                </a:solidFill>
                <a:latin typeface="Arial"/>
              </a:defRPr>
            </a:pPr>
            <a:r>
              <a:t>Statistical victory</a:t>
            </a:r>
          </a:p>
          <a:p>
            <a:pPr>
              <a:defRPr sz="850">
                <a:solidFill>
                  <a:srgbClr val="94A3B8"/>
                </a:solidFill>
                <a:latin typeface="Arial"/>
              </a:defRPr>
            </a:pPr>
            <a:r>
              <a:t>Paired seed-by-seed tests</a:t>
            </a:r>
          </a:p>
        </p:txBody>
      </p:sp>
      <p:sp>
        <p:nvSpPr>
          <p:cNvPr id="10" name="TextBox 9"/>
          <p:cNvSpPr txBox="1"/>
          <p:nvPr/>
        </p:nvSpPr>
        <p:spPr>
          <a:xfrm>
            <a:off x="914400" y="5943600"/>
            <a:ext cx="10332720" cy="457200"/>
          </a:xfrm>
          <a:prstGeom prst="rect">
            <a:avLst/>
          </a:prstGeom>
          <a:noFill/>
        </p:spPr>
        <p:txBody>
          <a:bodyPr wrap="none">
            <a:spAutoFit/>
          </a:bodyPr>
          <a:lstStyle/>
          <a:p>
            <a:pPr>
              <a:defRPr sz="1000">
                <a:solidFill>
                  <a:srgbClr val="94A3B8"/>
                </a:solidFill>
                <a:latin typeface="Arial"/>
              </a:defRPr>
            </a:pPr>
            <a:r>
              <a:t>Environment: SUMO Microscopic Physics (TraCI / libsumo) | Algorithm: IPPO + Split Gradient Clipping | Baseline: SUMO Actuated Induction Loops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solidFill>
              <a:srgbClr val="F8FA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411480"/>
            <a:ext cx="2926080" cy="292608"/>
          </a:xfrm>
          <a:prstGeom prst="roundRect">
            <a:avLst/>
          </a:prstGeom>
          <a:solidFill>
            <a:srgbClr val="EFF6FF"/>
          </a:solidFill>
          <a:ln>
            <a:solidFill>
              <a:srgbClr val="EFF6FF"/>
            </a:solidFill>
          </a:ln>
        </p:spPr>
        <p:style>
          <a:lnRef idx="1">
            <a:schemeClr val="accent1"/>
          </a:lnRef>
          <a:fillRef idx="3">
            <a:schemeClr val="accent1"/>
          </a:fillRef>
          <a:effectRef idx="2">
            <a:schemeClr val="accent1"/>
          </a:effectRef>
          <a:fontRef idx="minor">
            <a:schemeClr val="lt1"/>
          </a:fontRef>
        </p:style>
        <p:txBody>
          <a:bodyPr rtlCol="0" anchor="ctr" tIns="0" bIns="0" lIns="0" rIns="0" wrap="square"/>
          <a:lstStyle/>
          <a:p>
            <a:pPr algn="ctr">
              <a:defRPr sz="950" b="1">
                <a:solidFill>
                  <a:srgbClr val="1D4ED8"/>
                </a:solidFill>
                <a:latin typeface="Helvetica"/>
              </a:defRPr>
            </a:pPr>
            <a:r>
              <a:t>PROBLEM STATEMENT &amp; MOTIVATION</a:t>
            </a:r>
          </a:p>
        </p:txBody>
      </p:sp>
      <p:sp>
        <p:nvSpPr>
          <p:cNvPr id="4" name="TextBox 3"/>
          <p:cNvSpPr txBox="1"/>
          <p:nvPr/>
        </p:nvSpPr>
        <p:spPr>
          <a:xfrm>
            <a:off x="10515600" y="365760"/>
            <a:ext cx="914400" cy="320040"/>
          </a:xfrm>
          <a:prstGeom prst="rect">
            <a:avLst/>
          </a:prstGeom>
          <a:noFill/>
        </p:spPr>
        <p:txBody>
          <a:bodyPr wrap="none">
            <a:spAutoFit/>
          </a:bodyPr>
          <a:lstStyle/>
          <a:p>
            <a:pPr algn="r">
              <a:defRPr sz="1000">
                <a:solidFill>
                  <a:srgbClr val="64748B"/>
                </a:solidFill>
                <a:latin typeface="Arial"/>
              </a:defRPr>
            </a:pPr>
            <a:r>
              <a:t>02 / 18</a:t>
            </a:r>
          </a:p>
        </p:txBody>
      </p:sp>
      <p:sp>
        <p:nvSpPr>
          <p:cNvPr id="5" name="TextBox 4"/>
          <p:cNvSpPr txBox="1"/>
          <p:nvPr/>
        </p:nvSpPr>
        <p:spPr>
          <a:xfrm>
            <a:off x="731520" y="777240"/>
            <a:ext cx="10728655" cy="868680"/>
          </a:xfrm>
          <a:prstGeom prst="rect">
            <a:avLst/>
          </a:prstGeom>
          <a:noFill/>
        </p:spPr>
        <p:txBody>
          <a:bodyPr wrap="square" tIns="0" bIns="0" lIns="0" rIns="0">
            <a:spAutoFit/>
          </a:bodyPr>
          <a:lstStyle/>
          <a:p>
            <a:pPr>
              <a:defRPr sz="2100" b="1">
                <a:solidFill>
                  <a:srgbClr val="0F172A"/>
                </a:solidFill>
                <a:latin typeface="Helvetica"/>
              </a:defRPr>
            </a:pPr>
            <a:r>
              <a:t>The Reality Check: Escaping Academic Toy Grids</a:t>
            </a:r>
          </a:p>
          <a:p>
            <a:pPr>
              <a:defRPr sz="1150">
                <a:solidFill>
                  <a:srgbClr val="64748B"/>
                </a:solidFill>
                <a:latin typeface="Arial"/>
              </a:defRPr>
            </a:pPr>
            <a:r>
              <a:t>Why typical RL traffic papers fail in reality, and how CityMind evaluates real urban scale</a:t>
            </a:r>
          </a:p>
        </p:txBody>
      </p:sp>
      <p:sp>
        <p:nvSpPr>
          <p:cNvPr id="6" name="Rounded Rectangle 5"/>
          <p:cNvSpPr/>
          <p:nvPr/>
        </p:nvSpPr>
        <p:spPr>
          <a:xfrm>
            <a:off x="731520" y="1737360"/>
            <a:ext cx="3328416" cy="35661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2962656" cy="3200400"/>
          </a:xfrm>
          <a:prstGeom prst="rect">
            <a:avLst/>
          </a:prstGeom>
          <a:noFill/>
        </p:spPr>
        <p:txBody>
          <a:bodyPr wrap="square">
            <a:spAutoFit/>
          </a:bodyPr>
          <a:lstStyle/>
          <a:p>
            <a:pPr>
              <a:defRPr sz="1400" b="1">
                <a:solidFill>
                  <a:srgbClr val="EB6834"/>
                </a:solidFill>
                <a:latin typeface="Helvetica"/>
              </a:defRPr>
            </a:pPr>
            <a:r>
              <a:t>1. Academic Toy Grids ❌</a:t>
            </a:r>
          </a:p>
          <a:p>
            <a:pPr>
              <a:defRPr sz="1000">
                <a:solidFill>
                  <a:srgbClr val="0F172A"/>
                </a:solidFill>
              </a:defRPr>
            </a:pPr>
            <a:r>
              <a:t>• Synthetic 4-way intersections with identical 2-lane approaches.</a:t>
            </a:r>
          </a:p>
          <a:p>
            <a:pPr>
              <a:defRPr sz="1000">
                <a:solidFill>
                  <a:srgbClr val="0F172A"/>
                </a:solidFill>
              </a:defRPr>
            </a:pPr>
            <a:r>
              <a:t>• Uncalibrated fixed-time timers as the comparison baseline (trivial to beat).</a:t>
            </a:r>
          </a:p>
          <a:p>
            <a:pPr>
              <a:defRPr sz="1000">
                <a:solidFill>
                  <a:srgbClr val="0F172A"/>
                </a:solidFill>
              </a:defRPr>
            </a:pPr>
            <a:r>
              <a:t>• Assumes infinite queue capacity; ignores turning-bay spillback and lane blocking.</a:t>
            </a:r>
          </a:p>
          <a:p>
            <a:pPr>
              <a:defRPr sz="1000">
                <a:solidFill>
                  <a:srgbClr val="0F172A"/>
                </a:solidFill>
              </a:defRPr>
            </a:pPr>
            <a:r>
              <a:t>• Reports 'Mean Wait Time of Completed Cars', disguising massive gridlock on side streets (Survivor Bias).</a:t>
            </a:r>
          </a:p>
          <a:p>
            <a:pPr>
              <a:defRPr sz="1000">
                <a:solidFill>
                  <a:srgbClr val="0F172A"/>
                </a:solidFill>
              </a:defRPr>
            </a:pPr>
            <a:r>
              <a:t>• Fails completely when deployed on real urban topology.</a:t>
            </a:r>
          </a:p>
        </p:txBody>
      </p:sp>
      <p:sp>
        <p:nvSpPr>
          <p:cNvPr id="8" name="Rounded Rectangle 7"/>
          <p:cNvSpPr/>
          <p:nvPr/>
        </p:nvSpPr>
        <p:spPr>
          <a:xfrm>
            <a:off x="4425696" y="1737360"/>
            <a:ext cx="3328416" cy="35661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608576" y="1920240"/>
            <a:ext cx="2962656" cy="3200400"/>
          </a:xfrm>
          <a:prstGeom prst="rect">
            <a:avLst/>
          </a:prstGeom>
          <a:noFill/>
        </p:spPr>
        <p:txBody>
          <a:bodyPr wrap="square">
            <a:spAutoFit/>
          </a:bodyPr>
          <a:lstStyle/>
          <a:p>
            <a:pPr>
              <a:defRPr sz="1400" b="1">
                <a:solidFill>
                  <a:srgbClr val="2A78D6"/>
                </a:solidFill>
                <a:latin typeface="Helvetica"/>
              </a:defRPr>
            </a:pPr>
            <a:r>
              <a:t>2. Real Ingolstadt (InTAS) 🇩🇪</a:t>
            </a:r>
          </a:p>
          <a:p>
            <a:pPr>
              <a:defRPr sz="1000">
                <a:solidFill>
                  <a:srgbClr val="0F172A"/>
                </a:solidFill>
              </a:defRPr>
            </a:pPr>
            <a:r>
              <a:t>• Genuine European city network: 98 signalized intersections in Ingolstadt, Germany.</a:t>
            </a:r>
          </a:p>
          <a:p>
            <a:pPr>
              <a:defRPr sz="1000">
                <a:solidFill>
                  <a:srgbClr val="0F172A"/>
                </a:solidFill>
              </a:defRPr>
            </a:pPr>
            <a:r>
              <a:t>• Severe structural heterogeneity: Junctions have between 4 and 19 lanes, varying green phases (2 to 6).</a:t>
            </a:r>
          </a:p>
          <a:p>
            <a:pPr>
              <a:defRPr sz="1000">
                <a:solidFill>
                  <a:srgbClr val="0F172A"/>
                </a:solidFill>
              </a:defRPr>
            </a:pPr>
            <a:r>
              <a:t>• Morning rush hour scenario (07:00–08:00) with over 15,000 scheduled trips.</a:t>
            </a:r>
          </a:p>
          <a:p>
            <a:pPr>
              <a:defRPr sz="1000">
                <a:solidFill>
                  <a:srgbClr val="0F172A"/>
                </a:solidFill>
              </a:defRPr>
            </a:pPr>
            <a:r>
              <a:t>• Realistic driver behavior: Krauss car-following, LC2013 lane change dynamics, clearance delays.</a:t>
            </a:r>
          </a:p>
          <a:p>
            <a:pPr>
              <a:defRPr sz="1000">
                <a:solidFill>
                  <a:srgbClr val="0F172A"/>
                </a:solidFill>
              </a:defRPr>
            </a:pPr>
            <a:r>
              <a:t>• Real-world bottlenecks: Stop lines holding only 2 cars with 60-car feeder jams.</a:t>
            </a:r>
          </a:p>
        </p:txBody>
      </p:sp>
      <p:sp>
        <p:nvSpPr>
          <p:cNvPr id="10" name="Rounded Rectangle 9"/>
          <p:cNvSpPr/>
          <p:nvPr/>
        </p:nvSpPr>
        <p:spPr>
          <a:xfrm>
            <a:off x="8119872" y="1737360"/>
            <a:ext cx="3328416" cy="35661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302752" y="1920240"/>
            <a:ext cx="2962656" cy="3200400"/>
          </a:xfrm>
          <a:prstGeom prst="rect">
            <a:avLst/>
          </a:prstGeom>
          <a:noFill/>
        </p:spPr>
        <p:txBody>
          <a:bodyPr wrap="square">
            <a:spAutoFit/>
          </a:bodyPr>
          <a:lstStyle/>
          <a:p>
            <a:pPr>
              <a:defRPr sz="1400" b="1">
                <a:solidFill>
                  <a:srgbClr val="10B981"/>
                </a:solidFill>
                <a:latin typeface="Helvetica"/>
              </a:defRPr>
            </a:pPr>
            <a:r>
              <a:t>3. The True Civil Baseline 🎯</a:t>
            </a:r>
          </a:p>
          <a:p>
            <a:pPr>
              <a:defRPr sz="1000">
                <a:solidFill>
                  <a:srgbClr val="0F172A"/>
                </a:solidFill>
              </a:defRPr>
            </a:pPr>
            <a:r>
              <a:t>• SUMO Calibrated Vehicle-Actuated Controller (the real-world industry standard).</a:t>
            </a:r>
          </a:p>
          <a:p>
            <a:pPr>
              <a:defRPr sz="1000">
                <a:solidFill>
                  <a:srgbClr val="0F172A"/>
                </a:solidFill>
              </a:defRPr>
            </a:pPr>
            <a:r>
              <a:t>• Uses embedded induction loop detectors that sense gap-out headway in real time.</a:t>
            </a:r>
          </a:p>
          <a:p>
            <a:pPr>
              <a:defRPr sz="1000">
                <a:solidFill>
                  <a:srgbClr val="0F172A"/>
                </a:solidFill>
              </a:defRPr>
            </a:pPr>
            <a:r>
              <a:t>• Extends green phases dynamically when platoons arrive and terminates when gaps appear.</a:t>
            </a:r>
          </a:p>
          <a:p>
            <a:pPr>
              <a:defRPr sz="1000">
                <a:solidFill>
                  <a:srgbClr val="0F172A"/>
                </a:solidFill>
              </a:defRPr>
            </a:pPr>
            <a:r>
              <a:t>• Governed by authentic civil-engineering minimum, maximum, and yellow clearance intervals.</a:t>
            </a:r>
          </a:p>
          <a:p>
            <a:pPr>
              <a:defRPr sz="1000">
                <a:solidFill>
                  <a:srgbClr val="0F172A"/>
                </a:solidFill>
              </a:defRPr>
            </a:pPr>
            <a:r>
              <a:t>• Our Goal: Prove Deep RL can outperform calibrated civil engineering across the full network.</a:t>
            </a:r>
          </a:p>
        </p:txBody>
      </p:sp>
      <p:sp>
        <p:nvSpPr>
          <p:cNvPr id="12" name="Rounded Rectangle 11"/>
          <p:cNvSpPr/>
          <p:nvPr/>
        </p:nvSpPr>
        <p:spPr>
          <a:xfrm>
            <a:off x="731520" y="5486400"/>
            <a:ext cx="10728655" cy="960120"/>
          </a:xfrm>
          <a:prstGeom prst="roundRect">
            <a:avLst/>
          </a:prstGeom>
          <a:solidFill>
            <a:srgbClr val="F0FDF4"/>
          </a:solidFill>
          <a:ln w="15240">
            <a:solidFill>
              <a:srgbClr val="BBF7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8680" y="5559552"/>
            <a:ext cx="10454335" cy="813816"/>
          </a:xfrm>
          <a:prstGeom prst="rect">
            <a:avLst/>
          </a:prstGeom>
          <a:noFill/>
        </p:spPr>
        <p:txBody>
          <a:bodyPr wrap="square" tIns="0" bIns="0" lIns="0" rIns="0">
            <a:spAutoFit/>
          </a:bodyPr>
          <a:lstStyle/>
          <a:p>
            <a:pPr>
              <a:defRPr sz="950" b="1">
                <a:solidFill>
                  <a:srgbClr val="166534"/>
                </a:solidFill>
                <a:latin typeface="Helvetica"/>
              </a:defRPr>
            </a:pPr>
            <a:r>
              <a:t>💡 HOW TO EXPLAIN TO THE PROFESSOR IN 20 SECONDS (MOTIVATION):</a:t>
            </a:r>
          </a:p>
          <a:p>
            <a:pPr>
              <a:defRPr sz="1000">
                <a:solidFill>
                  <a:srgbClr val="0F172A"/>
                </a:solidFill>
                <a:latin typeface="Arial"/>
              </a:defRPr>
            </a:pPr>
            <a:r>
              <a:t>Explain to the professor: 'We refused to test on toy 4-way synthetic grids. We took the full Ingolstadt city network with 98 real intersections and matched our RL agent against SUMO's calibrated induction-loop actuated controller. If our model wins here, it proves RL is ready for real cities.'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solidFill>
              <a:srgbClr val="F8FA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411480"/>
            <a:ext cx="2926080" cy="292608"/>
          </a:xfrm>
          <a:prstGeom prst="roundRect">
            <a:avLst/>
          </a:prstGeom>
          <a:solidFill>
            <a:srgbClr val="EFF6FF"/>
          </a:solidFill>
          <a:ln>
            <a:solidFill>
              <a:srgbClr val="EFF6FF"/>
            </a:solidFill>
          </a:ln>
        </p:spPr>
        <p:style>
          <a:lnRef idx="1">
            <a:schemeClr val="accent1"/>
          </a:lnRef>
          <a:fillRef idx="3">
            <a:schemeClr val="accent1"/>
          </a:fillRef>
          <a:effectRef idx="2">
            <a:schemeClr val="accent1"/>
          </a:effectRef>
          <a:fontRef idx="minor">
            <a:schemeClr val="lt1"/>
          </a:fontRef>
        </p:style>
        <p:txBody>
          <a:bodyPr rtlCol="0" anchor="ctr" tIns="0" bIns="0" lIns="0" rIns="0" wrap="square"/>
          <a:lstStyle/>
          <a:p>
            <a:pPr algn="ctr">
              <a:defRPr sz="950" b="1">
                <a:solidFill>
                  <a:srgbClr val="1D4ED8"/>
                </a:solidFill>
                <a:latin typeface="Helvetica"/>
              </a:defRPr>
            </a:pPr>
            <a:r>
              <a:t>SIMULATION &amp; PHYSICAL MODELING</a:t>
            </a:r>
          </a:p>
        </p:txBody>
      </p:sp>
      <p:sp>
        <p:nvSpPr>
          <p:cNvPr id="4" name="TextBox 3"/>
          <p:cNvSpPr txBox="1"/>
          <p:nvPr/>
        </p:nvSpPr>
        <p:spPr>
          <a:xfrm>
            <a:off x="10515600" y="365760"/>
            <a:ext cx="914400" cy="320040"/>
          </a:xfrm>
          <a:prstGeom prst="rect">
            <a:avLst/>
          </a:prstGeom>
          <a:noFill/>
        </p:spPr>
        <p:txBody>
          <a:bodyPr wrap="none">
            <a:spAutoFit/>
          </a:bodyPr>
          <a:lstStyle/>
          <a:p>
            <a:pPr algn="r">
              <a:defRPr sz="1000">
                <a:solidFill>
                  <a:srgbClr val="64748B"/>
                </a:solidFill>
                <a:latin typeface="Arial"/>
              </a:defRPr>
            </a:pPr>
            <a:r>
              <a:t>03 / 18</a:t>
            </a:r>
          </a:p>
        </p:txBody>
      </p:sp>
      <p:sp>
        <p:nvSpPr>
          <p:cNvPr id="5" name="TextBox 4"/>
          <p:cNvSpPr txBox="1"/>
          <p:nvPr/>
        </p:nvSpPr>
        <p:spPr>
          <a:xfrm>
            <a:off x="731520" y="777240"/>
            <a:ext cx="10728655" cy="868680"/>
          </a:xfrm>
          <a:prstGeom prst="rect">
            <a:avLst/>
          </a:prstGeom>
          <a:noFill/>
        </p:spPr>
        <p:txBody>
          <a:bodyPr wrap="square" tIns="0" bIns="0" lIns="0" rIns="0">
            <a:spAutoFit/>
          </a:bodyPr>
          <a:lstStyle/>
          <a:p>
            <a:pPr>
              <a:defRPr sz="2100" b="1">
                <a:solidFill>
                  <a:srgbClr val="0F172A"/>
                </a:solidFill>
                <a:latin typeface="Helvetica"/>
              </a:defRPr>
            </a:pPr>
            <a:r>
              <a:t>Microscopic Vehicle Physics in Eclipse SUMO</a:t>
            </a:r>
          </a:p>
          <a:p>
            <a:pPr>
              <a:defRPr sz="1150">
                <a:solidFill>
                  <a:srgbClr val="64748B"/>
                </a:solidFill>
                <a:latin typeface="Arial"/>
              </a:defRPr>
            </a:pPr>
            <a:r>
              <a:t>Simulating continuous-space driver dynamics, car-following, and urban heterogeneity</a:t>
            </a:r>
          </a:p>
        </p:txBody>
      </p:sp>
      <p:sp>
        <p:nvSpPr>
          <p:cNvPr id="6" name="Rounded Rectangle 5"/>
          <p:cNvSpPr/>
          <p:nvPr/>
        </p:nvSpPr>
        <p:spPr>
          <a:xfrm>
            <a:off x="731520" y="1737360"/>
            <a:ext cx="5120640" cy="36576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754880" cy="3291840"/>
          </a:xfrm>
          <a:prstGeom prst="rect">
            <a:avLst/>
          </a:prstGeom>
          <a:noFill/>
        </p:spPr>
        <p:txBody>
          <a:bodyPr wrap="square">
            <a:spAutoFit/>
          </a:bodyPr>
          <a:lstStyle/>
          <a:p>
            <a:pPr>
              <a:defRPr sz="1350" b="1">
                <a:solidFill>
                  <a:srgbClr val="2A78D6"/>
                </a:solidFill>
                <a:latin typeface="Helvetica"/>
              </a:defRPr>
            </a:pPr>
            <a:r>
              <a:t>Microscopic Simulation Engine: Eclipse SUMO</a:t>
            </a:r>
          </a:p>
          <a:p>
            <a:pPr>
              <a:defRPr sz="950">
                <a:solidFill>
                  <a:srgbClr val="0F172A"/>
                </a:solidFill>
              </a:defRPr>
            </a:pPr>
            <a:r>
              <a:t>• Continuous Space &amp; Discrete Time: Tracks every single vehicle individually at 1.0-second physics increments.</a:t>
            </a:r>
          </a:p>
          <a:p>
            <a:pPr>
              <a:defRPr sz="950">
                <a:solidFill>
                  <a:srgbClr val="0F172A"/>
                </a:solidFill>
              </a:defRPr>
            </a:pPr>
            <a:r>
              <a:t>• Krauss Car-Following Model: Models realistic acceleration, safe following distance, deceleration limits, and driver reaction latencies.</a:t>
            </a:r>
          </a:p>
          <a:p>
            <a:pPr>
              <a:defRPr sz="950">
                <a:solidFill>
                  <a:srgbClr val="0F172A"/>
                </a:solidFill>
              </a:defRPr>
            </a:pPr>
            <a:r>
              <a:t>• LC2013 Lane-Changing Model: Simulates tactical overtaking, lane blocking, merge conflicts, and turning-lane queues.</a:t>
            </a:r>
          </a:p>
          <a:p>
            <a:pPr>
              <a:defRPr sz="950">
                <a:solidFill>
                  <a:srgbClr val="0F172A"/>
                </a:solidFill>
              </a:defRPr>
            </a:pPr>
            <a:r>
              <a:t>• Intersection Clearance Physics: Yellow change intervals (3–4s) and all-red red-clearance intervals are explicitly simulated to prevent phantom teleportations.</a:t>
            </a:r>
          </a:p>
          <a:p>
            <a:pPr>
              <a:defRPr sz="950">
                <a:solidFill>
                  <a:srgbClr val="0F172A"/>
                </a:solidFill>
              </a:defRPr>
            </a:pPr>
            <a:r>
              <a:t>• Spillback Dynamics: Traffic backing up past intersection stop-lines actively blocks upstream cross-traffic, capturing cascading urban gridlock.</a:t>
            </a:r>
          </a:p>
        </p:txBody>
      </p:sp>
      <p:sp>
        <p:nvSpPr>
          <p:cNvPr id="8" name="Rounded Rectangle 7"/>
          <p:cNvSpPr/>
          <p:nvPr/>
        </p:nvSpPr>
        <p:spPr>
          <a:xfrm>
            <a:off x="6217920" y="1737360"/>
            <a:ext cx="5242255" cy="36576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1920240"/>
            <a:ext cx="4876495" cy="3291840"/>
          </a:xfrm>
          <a:prstGeom prst="rect">
            <a:avLst/>
          </a:prstGeom>
          <a:noFill/>
        </p:spPr>
        <p:txBody>
          <a:bodyPr wrap="square">
            <a:spAutoFit/>
          </a:bodyPr>
          <a:lstStyle/>
          <a:p>
            <a:pPr>
              <a:defRPr sz="1350" b="1">
                <a:solidFill>
                  <a:srgbClr val="10B981"/>
                </a:solidFill>
                <a:latin typeface="Helvetica"/>
              </a:defRPr>
            </a:pPr>
            <a:r>
              <a:t>Ingolstadt InTAS Network Specifications</a:t>
            </a:r>
          </a:p>
          <a:p>
            <a:pPr>
              <a:defRPr sz="950">
                <a:solidFill>
                  <a:srgbClr val="0F172A"/>
                </a:solidFill>
              </a:defRPr>
            </a:pPr>
            <a:r>
              <a:t>• 98 Controlled Intersections: Spans high-speed arterial corridors, highway entry ramps, and dense downtown streets.</a:t>
            </a:r>
          </a:p>
          <a:p>
            <a:pPr>
              <a:defRPr sz="950">
                <a:solidFill>
                  <a:srgbClr val="0F172A"/>
                </a:solidFill>
              </a:defRPr>
            </a:pPr>
            <a:r>
              <a:t>• Heterogeneous Junction Geometry: Signals feature between 4 and 19 controlled incoming lanes and 2 to 6 unique green phase configurations.</a:t>
            </a:r>
          </a:p>
          <a:p>
            <a:pPr>
              <a:defRPr sz="950">
                <a:solidFill>
                  <a:srgbClr val="0F172A"/>
                </a:solidFill>
              </a:defRPr>
            </a:pPr>
            <a:r>
              <a:t>• Morning Rush Hour Window: 07:00 to 08:00 (3,600 simulated seconds), representing peak commuting demand.</a:t>
            </a:r>
          </a:p>
          <a:p>
            <a:pPr>
              <a:defRPr sz="950">
                <a:solidFill>
                  <a:srgbClr val="0F172A"/>
                </a:solidFill>
              </a:defRPr>
            </a:pPr>
            <a:r>
              <a:t>• &gt;15,000 Scheduled Vehicle Trips: Realistic origin-destination trip demand calibrated from German municipal mobility surveys.</a:t>
            </a:r>
          </a:p>
          <a:p>
            <a:pPr>
              <a:defRPr sz="950">
                <a:solidFill>
                  <a:srgbClr val="0F172A"/>
                </a:solidFill>
              </a:defRPr>
            </a:pPr>
            <a:r>
              <a:t>• Decision Step: The RL agent acts every 5 seconds (720 discrete decision steps per hour), allowing vehicle platoons to clear without jitter.</a:t>
            </a:r>
          </a:p>
          <a:p>
            <a:pPr>
              <a:defRPr sz="950">
                <a:solidFill>
                  <a:srgbClr val="0F172A"/>
                </a:solidFill>
              </a:defRPr>
            </a:pPr>
            <a:r>
              <a:t>• Parallel Training Throughput: 6 parallel SUMO environments (588 simultaneous signal transitions per step) for high sample efficiency.</a:t>
            </a:r>
          </a:p>
        </p:txBody>
      </p:sp>
      <p:sp>
        <p:nvSpPr>
          <p:cNvPr id="10" name="Rounded Rectangle 9"/>
          <p:cNvSpPr/>
          <p:nvPr/>
        </p:nvSpPr>
        <p:spPr>
          <a:xfrm>
            <a:off x="731520" y="5532120"/>
            <a:ext cx="10728655" cy="914400"/>
          </a:xfrm>
          <a:prstGeom prst="roundRect">
            <a:avLst/>
          </a:prstGeom>
          <a:solidFill>
            <a:srgbClr val="F0FDF4"/>
          </a:solidFill>
          <a:ln w="15240">
            <a:solidFill>
              <a:srgbClr val="BBF7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5605272"/>
            <a:ext cx="10454335" cy="768096"/>
          </a:xfrm>
          <a:prstGeom prst="rect">
            <a:avLst/>
          </a:prstGeom>
          <a:noFill/>
        </p:spPr>
        <p:txBody>
          <a:bodyPr wrap="square" tIns="0" bIns="0" lIns="0" rIns="0">
            <a:spAutoFit/>
          </a:bodyPr>
          <a:lstStyle/>
          <a:p>
            <a:pPr>
              <a:defRPr sz="950" b="1">
                <a:solidFill>
                  <a:srgbClr val="166534"/>
                </a:solidFill>
                <a:latin typeface="Helvetica"/>
              </a:defRPr>
            </a:pPr>
            <a:r>
              <a:t>💡 HOW TO EXPLAIN TO THE PROFESSOR IN 20 SECONDS (SIMULATION PHYSICS):</a:t>
            </a:r>
          </a:p>
          <a:p>
            <a:pPr>
              <a:defRPr sz="1000">
                <a:solidFill>
                  <a:srgbClr val="0F172A"/>
                </a:solidFill>
                <a:latin typeface="Arial"/>
              </a:defRPr>
            </a:pPr>
            <a:r>
              <a:t>Explain to the professor: 'SUMO doesn't treat traffic as abstract fluid flow. Every car has an engine, brakes, driver latency, and lane-changing logic. If an intersection turns green, cars don't instantly move—they accelerate one by one according to Krauss physics. That makes signal coordination genuinely challenging.'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solidFill>
              <a:srgbClr val="F8FA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411480"/>
            <a:ext cx="2926080" cy="292608"/>
          </a:xfrm>
          <a:prstGeom prst="roundRect">
            <a:avLst/>
          </a:prstGeom>
          <a:solidFill>
            <a:srgbClr val="EFF6FF"/>
          </a:solidFill>
          <a:ln>
            <a:solidFill>
              <a:srgbClr val="EFF6FF"/>
            </a:solidFill>
          </a:ln>
        </p:spPr>
        <p:style>
          <a:lnRef idx="1">
            <a:schemeClr val="accent1"/>
          </a:lnRef>
          <a:fillRef idx="3">
            <a:schemeClr val="accent1"/>
          </a:fillRef>
          <a:effectRef idx="2">
            <a:schemeClr val="accent1"/>
          </a:effectRef>
          <a:fontRef idx="minor">
            <a:schemeClr val="lt1"/>
          </a:fontRef>
        </p:style>
        <p:txBody>
          <a:bodyPr rtlCol="0" anchor="ctr" tIns="0" bIns="0" lIns="0" rIns="0" wrap="square"/>
          <a:lstStyle/>
          <a:p>
            <a:pPr algn="ctr">
              <a:defRPr sz="950" b="1">
                <a:solidFill>
                  <a:srgbClr val="1D4ED8"/>
                </a:solidFill>
                <a:latin typeface="Helvetica"/>
              </a:defRPr>
            </a:pPr>
            <a:r>
              <a:t>MIDDLEWARE &amp; INTEGRATION</a:t>
            </a:r>
          </a:p>
        </p:txBody>
      </p:sp>
      <p:sp>
        <p:nvSpPr>
          <p:cNvPr id="4" name="TextBox 3"/>
          <p:cNvSpPr txBox="1"/>
          <p:nvPr/>
        </p:nvSpPr>
        <p:spPr>
          <a:xfrm>
            <a:off x="10515600" y="365760"/>
            <a:ext cx="914400" cy="320040"/>
          </a:xfrm>
          <a:prstGeom prst="rect">
            <a:avLst/>
          </a:prstGeom>
          <a:noFill/>
        </p:spPr>
        <p:txBody>
          <a:bodyPr wrap="none">
            <a:spAutoFit/>
          </a:bodyPr>
          <a:lstStyle/>
          <a:p>
            <a:pPr algn="r">
              <a:defRPr sz="1000">
                <a:solidFill>
                  <a:srgbClr val="64748B"/>
                </a:solidFill>
                <a:latin typeface="Arial"/>
              </a:defRPr>
            </a:pPr>
            <a:r>
              <a:t>04 / 18</a:t>
            </a:r>
          </a:p>
        </p:txBody>
      </p:sp>
      <p:sp>
        <p:nvSpPr>
          <p:cNvPr id="5" name="TextBox 4"/>
          <p:cNvSpPr txBox="1"/>
          <p:nvPr/>
        </p:nvSpPr>
        <p:spPr>
          <a:xfrm>
            <a:off x="731520" y="777240"/>
            <a:ext cx="10728655" cy="868680"/>
          </a:xfrm>
          <a:prstGeom prst="rect">
            <a:avLst/>
          </a:prstGeom>
          <a:noFill/>
        </p:spPr>
        <p:txBody>
          <a:bodyPr wrap="square" tIns="0" bIns="0" lIns="0" rIns="0">
            <a:spAutoFit/>
          </a:bodyPr>
          <a:lstStyle/>
          <a:p>
            <a:pPr>
              <a:defRPr sz="2100" b="1">
                <a:solidFill>
                  <a:srgbClr val="0F172A"/>
                </a:solidFill>
                <a:latin typeface="Helvetica"/>
              </a:defRPr>
            </a:pPr>
            <a:r>
              <a:t>TraCI: The Bi-directional TCP Socket Protocol</a:t>
            </a:r>
          </a:p>
          <a:p>
            <a:pPr>
              <a:defRPr sz="1150">
                <a:solidFill>
                  <a:srgbClr val="64748B"/>
                </a:solidFill>
                <a:latin typeface="Arial"/>
              </a:defRPr>
            </a:pPr>
            <a:r>
              <a:t>How our Python RL environment queries sensors and actuates signal phases in SUMO</a:t>
            </a:r>
          </a:p>
        </p:txBody>
      </p:sp>
      <p:sp>
        <p:nvSpPr>
          <p:cNvPr id="6" name="Rounded Rectangle 5"/>
          <p:cNvSpPr/>
          <p:nvPr/>
        </p:nvSpPr>
        <p:spPr>
          <a:xfrm>
            <a:off x="731520" y="1737360"/>
            <a:ext cx="3328416" cy="361188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01952"/>
            <a:ext cx="2962656" cy="3282696"/>
          </a:xfrm>
          <a:prstGeom prst="rect">
            <a:avLst/>
          </a:prstGeom>
          <a:noFill/>
        </p:spPr>
        <p:txBody>
          <a:bodyPr wrap="square">
            <a:spAutoFit/>
          </a:bodyPr>
          <a:lstStyle/>
          <a:p>
            <a:pPr>
              <a:defRPr sz="1300" b="1">
                <a:solidFill>
                  <a:srgbClr val="2A78D6"/>
                </a:solidFill>
                <a:latin typeface="Helvetica"/>
              </a:defRPr>
            </a:pPr>
            <a:r>
              <a:t>1. What is TraCI? 🔌</a:t>
            </a:r>
          </a:p>
          <a:p>
            <a:pPr>
              <a:defRPr sz="950">
                <a:solidFill>
                  <a:srgbClr val="0F172A"/>
                </a:solidFill>
              </a:defRPr>
            </a:pPr>
            <a:r>
              <a:t>• TraCI = Traffic Control Interface.</a:t>
            </a:r>
          </a:p>
          <a:p>
            <a:pPr>
              <a:defRPr sz="950">
                <a:solidFill>
                  <a:srgbClr val="0F172A"/>
                </a:solidFill>
              </a:defRPr>
            </a:pPr>
            <a:r>
              <a:t>• Client-Server Architecture: SUMO runs as a socket server (listening on a TCP port); our Python environment connects as a client.</a:t>
            </a:r>
          </a:p>
          <a:p>
            <a:pPr>
              <a:defRPr sz="950">
                <a:solidFill>
                  <a:srgbClr val="0F172A"/>
                </a:solidFill>
              </a:defRPr>
            </a:pPr>
            <a:r>
              <a:t>• Bidirectional Interaction: Retrieves simulation state (sensors) and commands simulation objects (actuators).</a:t>
            </a:r>
          </a:p>
          <a:p>
            <a:pPr>
              <a:defRPr sz="950">
                <a:solidFill>
                  <a:srgbClr val="0F172A"/>
                </a:solidFill>
              </a:defRPr>
            </a:pPr>
            <a:r>
              <a:t>• Deterministic Stepping: The simulation clock is frozen until Python sends traci.simulationStep().</a:t>
            </a:r>
          </a:p>
          <a:p>
            <a:pPr>
              <a:defRPr sz="950">
                <a:solidFill>
                  <a:srgbClr val="0F172A"/>
                </a:solidFill>
              </a:defRPr>
            </a:pPr>
            <a:r>
              <a:t>• Speed Optimization: In our codebase (src/environment/sumo_connection.py), we use libsumo—a direct C++ SWIG binding eliminating TCP socket serialization overhead during training.</a:t>
            </a:r>
          </a:p>
        </p:txBody>
      </p:sp>
      <p:sp>
        <p:nvSpPr>
          <p:cNvPr id="8" name="Rounded Rectangle 7"/>
          <p:cNvSpPr/>
          <p:nvPr/>
        </p:nvSpPr>
        <p:spPr>
          <a:xfrm>
            <a:off x="4425696" y="1737360"/>
            <a:ext cx="3328416" cy="361188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608576" y="1901952"/>
            <a:ext cx="2962656" cy="3282696"/>
          </a:xfrm>
          <a:prstGeom prst="rect">
            <a:avLst/>
          </a:prstGeom>
          <a:noFill/>
        </p:spPr>
        <p:txBody>
          <a:bodyPr wrap="square">
            <a:spAutoFit/>
          </a:bodyPr>
          <a:lstStyle/>
          <a:p>
            <a:pPr>
              <a:defRPr sz="1300" b="1">
                <a:solidFill>
                  <a:srgbClr val="10B981"/>
                </a:solidFill>
                <a:latin typeface="Helvetica"/>
              </a:defRPr>
            </a:pPr>
            <a:r>
              <a:t>2. Sensor Ingestion (Every 5s) 📡</a:t>
            </a:r>
          </a:p>
          <a:p>
            <a:pPr>
              <a:defRPr sz="950">
                <a:solidFill>
                  <a:srgbClr val="0F172A"/>
                </a:solidFill>
              </a:defRPr>
            </a:pPr>
            <a:r>
              <a:t>• Queue Measurements: Calls traci.lane.getLastStepHaltingNumber(lane) to detect stopped vehicles (&lt;0.1 m/s).</a:t>
            </a:r>
          </a:p>
          <a:p>
            <a:pPr>
              <a:defRPr sz="950">
                <a:solidFill>
                  <a:srgbClr val="0F172A"/>
                </a:solidFill>
              </a:defRPr>
            </a:pPr>
            <a:r>
              <a:t>• Upstream Feeder Walking: Recursively crawls lane topology via traci.lane.getLinks() to inspect traffic up to 300 meters behind stop-lines.</a:t>
            </a:r>
          </a:p>
          <a:p>
            <a:pPr>
              <a:defRPr sz="950">
                <a:solidFill>
                  <a:srgbClr val="0F172A"/>
                </a:solidFill>
              </a:defRPr>
            </a:pPr>
            <a:r>
              <a:t>• Downstream Speeds: Queries traci.lane.getLastStepMeanSpeed(lane) to monitor exit road congestion and prevent spillback.</a:t>
            </a:r>
          </a:p>
          <a:p>
            <a:pPr>
              <a:defRPr sz="950">
                <a:solidFill>
                  <a:srgbClr val="0F172A"/>
                </a:solidFill>
              </a:defRPr>
            </a:pPr>
            <a:r>
              <a:t>• Outside Network Demand: Queries traci.simulation.getPendingVehicles() to count vehicles queued at city boundary entry gates waiting to spawn.</a:t>
            </a:r>
          </a:p>
        </p:txBody>
      </p:sp>
      <p:sp>
        <p:nvSpPr>
          <p:cNvPr id="10" name="Rounded Rectangle 9"/>
          <p:cNvSpPr/>
          <p:nvPr/>
        </p:nvSpPr>
        <p:spPr>
          <a:xfrm>
            <a:off x="8119872" y="1737360"/>
            <a:ext cx="3328416" cy="361188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302752" y="1901952"/>
            <a:ext cx="2962656" cy="3282696"/>
          </a:xfrm>
          <a:prstGeom prst="rect">
            <a:avLst/>
          </a:prstGeom>
          <a:noFill/>
        </p:spPr>
        <p:txBody>
          <a:bodyPr wrap="square">
            <a:spAutoFit/>
          </a:bodyPr>
          <a:lstStyle/>
          <a:p>
            <a:pPr>
              <a:defRPr sz="1300" b="1">
                <a:solidFill>
                  <a:srgbClr val="EB6834"/>
                </a:solidFill>
                <a:latin typeface="Helvetica"/>
              </a:defRPr>
            </a:pPr>
            <a:r>
              <a:t>3. Phase Actuation &amp; Safety 🚦</a:t>
            </a:r>
          </a:p>
          <a:p>
            <a:pPr>
              <a:defRPr sz="950">
                <a:solidFill>
                  <a:srgbClr val="0F172A"/>
                </a:solidFill>
              </a:defRPr>
            </a:pPr>
            <a:r>
              <a:t>• RL Decision: Agent chooses action a in {0: Keep, 1: Advance}.</a:t>
            </a:r>
          </a:p>
          <a:p>
            <a:pPr>
              <a:defRPr sz="950">
                <a:solidFill>
                  <a:srgbClr val="0F172A"/>
                </a:solidFill>
              </a:defRPr>
            </a:pPr>
            <a:r>
              <a:t>• Deterministic Safety Filter: Actions pass through SafetyLayer (safety.py) before reaching SUMO.</a:t>
            </a:r>
          </a:p>
          <a:p>
            <a:pPr>
              <a:defRPr sz="950">
                <a:solidFill>
                  <a:srgbClr val="0F172A"/>
                </a:solidFill>
              </a:defRPr>
            </a:pPr>
            <a:r>
              <a:t>• Guarantees Min/Max Green: Prevents rapid oscillation and starvation.</a:t>
            </a:r>
          </a:p>
          <a:p>
            <a:pPr>
              <a:defRPr sz="950">
                <a:solidFill>
                  <a:srgbClr val="0F172A"/>
                </a:solidFill>
              </a:defRPr>
            </a:pPr>
            <a:r>
              <a:t>• Executes Clearance: Automatically schedules yellow and all-red clearance intervals.</a:t>
            </a:r>
          </a:p>
          <a:p>
            <a:pPr>
              <a:defRPr sz="950">
                <a:solidFill>
                  <a:srgbClr val="0F172A"/>
                </a:solidFill>
              </a:defRPr>
            </a:pPr>
            <a:r>
              <a:t>• Direct Actuation Command: Sends traci.trafficlight.setPhase(tls_id, phase_index) to command the hardware.</a:t>
            </a:r>
          </a:p>
          <a:p>
            <a:pPr>
              <a:defRPr sz="950">
                <a:solidFill>
                  <a:srgbClr val="0F172A"/>
                </a:solidFill>
              </a:defRPr>
            </a:pPr>
            <a:r>
              <a:t>• Advances Clock: Calls traci.simulationStep() to progress physics by 1 second.</a:t>
            </a:r>
          </a:p>
        </p:txBody>
      </p:sp>
      <p:sp>
        <p:nvSpPr>
          <p:cNvPr id="12" name="Rounded Rectangle 11"/>
          <p:cNvSpPr/>
          <p:nvPr/>
        </p:nvSpPr>
        <p:spPr>
          <a:xfrm>
            <a:off x="731520" y="5532120"/>
            <a:ext cx="10728655" cy="914400"/>
          </a:xfrm>
          <a:prstGeom prst="roundRect">
            <a:avLst/>
          </a:prstGeom>
          <a:solidFill>
            <a:srgbClr val="F0FDF4"/>
          </a:solidFill>
          <a:ln w="15240">
            <a:solidFill>
              <a:srgbClr val="BBF7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8680" y="5605272"/>
            <a:ext cx="10454335" cy="768096"/>
          </a:xfrm>
          <a:prstGeom prst="rect">
            <a:avLst/>
          </a:prstGeom>
          <a:noFill/>
        </p:spPr>
        <p:txBody>
          <a:bodyPr wrap="square" tIns="0" bIns="0" lIns="0" rIns="0">
            <a:spAutoFit/>
          </a:bodyPr>
          <a:lstStyle/>
          <a:p>
            <a:pPr>
              <a:defRPr sz="950" b="1">
                <a:solidFill>
                  <a:srgbClr val="166534"/>
                </a:solidFill>
                <a:latin typeface="Helvetica"/>
              </a:defRPr>
            </a:pPr>
            <a:r>
              <a:t>💡 HOW TO EXPLAIN TO THE PROFESSOR IN 20 SECONDS (TRACI CODEBASE HOOKS):</a:t>
            </a:r>
          </a:p>
          <a:p>
            <a:pPr>
              <a:defRPr sz="1000">
                <a:solidFill>
                  <a:srgbClr val="0F172A"/>
                </a:solidFill>
                <a:latin typeface="Arial"/>
              </a:defRPr>
            </a:pPr>
            <a:r>
              <a:t>Explain to the professor: 'TraCI is our TCP socket middleware. In src/environment/sumo_connection.py, we connect Python to SUMO. Every 5 seconds, Python queries vehicle queues and speeds, runs our RL policy, checks the safety layer, and commands traci.trafficlight.setPhase(). It is 100% automated and deterministic.'</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solidFill>
              <a:srgbClr val="F8FA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411480"/>
            <a:ext cx="2926080" cy="292608"/>
          </a:xfrm>
          <a:prstGeom prst="roundRect">
            <a:avLst/>
          </a:prstGeom>
          <a:solidFill>
            <a:srgbClr val="EFF6FF"/>
          </a:solidFill>
          <a:ln>
            <a:solidFill>
              <a:srgbClr val="EFF6FF"/>
            </a:solidFill>
          </a:ln>
        </p:spPr>
        <p:style>
          <a:lnRef idx="1">
            <a:schemeClr val="accent1"/>
          </a:lnRef>
          <a:fillRef idx="3">
            <a:schemeClr val="accent1"/>
          </a:fillRef>
          <a:effectRef idx="2">
            <a:schemeClr val="accent1"/>
          </a:effectRef>
          <a:fontRef idx="minor">
            <a:schemeClr val="lt1"/>
          </a:fontRef>
        </p:style>
        <p:txBody>
          <a:bodyPr rtlCol="0" anchor="ctr" tIns="0" bIns="0" lIns="0" rIns="0" wrap="square"/>
          <a:lstStyle/>
          <a:p>
            <a:pPr algn="ctr">
              <a:defRPr sz="950" b="1">
                <a:solidFill>
                  <a:srgbClr val="1D4ED8"/>
                </a:solidFill>
                <a:latin typeface="Helvetica"/>
              </a:defRPr>
            </a:pPr>
            <a:r>
              <a:t>SYSTEM ARCHITECTURE FIGURE</a:t>
            </a:r>
          </a:p>
        </p:txBody>
      </p:sp>
      <p:sp>
        <p:nvSpPr>
          <p:cNvPr id="4" name="TextBox 3"/>
          <p:cNvSpPr txBox="1"/>
          <p:nvPr/>
        </p:nvSpPr>
        <p:spPr>
          <a:xfrm>
            <a:off x="10515600" y="365760"/>
            <a:ext cx="914400" cy="320040"/>
          </a:xfrm>
          <a:prstGeom prst="rect">
            <a:avLst/>
          </a:prstGeom>
          <a:noFill/>
        </p:spPr>
        <p:txBody>
          <a:bodyPr wrap="none">
            <a:spAutoFit/>
          </a:bodyPr>
          <a:lstStyle/>
          <a:p>
            <a:pPr algn="r">
              <a:defRPr sz="1000">
                <a:solidFill>
                  <a:srgbClr val="64748B"/>
                </a:solidFill>
                <a:latin typeface="Arial"/>
              </a:defRPr>
            </a:pPr>
            <a:r>
              <a:t>05 / 18</a:t>
            </a:r>
          </a:p>
        </p:txBody>
      </p:sp>
      <p:sp>
        <p:nvSpPr>
          <p:cNvPr id="5" name="TextBox 4"/>
          <p:cNvSpPr txBox="1"/>
          <p:nvPr/>
        </p:nvSpPr>
        <p:spPr>
          <a:xfrm>
            <a:off x="731520" y="777240"/>
            <a:ext cx="10728655" cy="868680"/>
          </a:xfrm>
          <a:prstGeom prst="rect">
            <a:avLst/>
          </a:prstGeom>
          <a:noFill/>
        </p:spPr>
        <p:txBody>
          <a:bodyPr wrap="square" tIns="0" bIns="0" lIns="0" rIns="0">
            <a:spAutoFit/>
          </a:bodyPr>
          <a:lstStyle/>
          <a:p>
            <a:pPr>
              <a:defRPr sz="2100" b="1">
                <a:solidFill>
                  <a:srgbClr val="0F172A"/>
                </a:solidFill>
                <a:latin typeface="Helvetica"/>
              </a:defRPr>
            </a:pPr>
            <a:r>
              <a:t>Figure 1 Walkthrough: The Closed-Loop Control System</a:t>
            </a:r>
          </a:p>
          <a:p>
            <a:pPr>
              <a:defRPr sz="1150">
                <a:solidFill>
                  <a:srgbClr val="64748B"/>
                </a:solidFill>
                <a:latin typeface="Arial"/>
              </a:defRPr>
            </a:pPr>
            <a:r>
              <a:t>Explaining the 720-cycle agent-environment interaction loop and the safety layer</a:t>
            </a:r>
          </a:p>
        </p:txBody>
      </p:sp>
      <p:sp>
        <p:nvSpPr>
          <p:cNvPr id="6" name="Rounded Rectangle 5"/>
          <p:cNvSpPr/>
          <p:nvPr/>
        </p:nvSpPr>
        <p:spPr>
          <a:xfrm>
            <a:off x="731520" y="1737360"/>
            <a:ext cx="6217920" cy="36576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ig_loop.png"/>
          <p:cNvPicPr>
            <a:picLocks noChangeAspect="1"/>
          </p:cNvPicPr>
          <p:nvPr/>
        </p:nvPicPr>
        <p:blipFill>
          <a:blip r:embed="rId2"/>
          <a:stretch>
            <a:fillRect/>
          </a:stretch>
        </p:blipFill>
        <p:spPr>
          <a:xfrm>
            <a:off x="868680" y="1920240"/>
            <a:ext cx="5943600" cy="2317404"/>
          </a:xfrm>
          <a:prstGeom prst="rect">
            <a:avLst/>
          </a:prstGeom>
        </p:spPr>
      </p:pic>
      <p:sp>
        <p:nvSpPr>
          <p:cNvPr id="8" name="Rounded Rectangle 7"/>
          <p:cNvSpPr/>
          <p:nvPr/>
        </p:nvSpPr>
        <p:spPr>
          <a:xfrm>
            <a:off x="7132320" y="1737360"/>
            <a:ext cx="4327855" cy="36576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0" y="1874519"/>
            <a:ext cx="3962095" cy="3383280"/>
          </a:xfrm>
          <a:prstGeom prst="rect">
            <a:avLst/>
          </a:prstGeom>
          <a:noFill/>
        </p:spPr>
        <p:txBody>
          <a:bodyPr wrap="square">
            <a:spAutoFit/>
          </a:bodyPr>
          <a:lstStyle/>
          <a:p>
            <a:pPr>
              <a:defRPr sz="1400" b="1">
                <a:solidFill>
                  <a:srgbClr val="2A78D6"/>
                </a:solidFill>
                <a:latin typeface="Helvetica"/>
              </a:defRPr>
            </a:pPr>
            <a:r>
              <a:t>Deconstructing Figure 1</a:t>
            </a:r>
          </a:p>
          <a:p>
            <a:pPr>
              <a:defRPr sz="950">
                <a:solidFill>
                  <a:srgbClr val="0F172A"/>
                </a:solidFill>
              </a:defRPr>
            </a:pPr>
            <a:r>
              <a:t>Left Box (The Agent): ONE shared neural network for all 98 signals. It takes a 22-number state vector and outputs an action.</a:t>
            </a:r>
          </a:p>
          <a:p>
            <a:pPr>
              <a:defRPr sz="950">
                <a:solidFill>
                  <a:srgbClr val="0F172A"/>
                </a:solidFill>
              </a:defRPr>
            </a:pPr>
            <a:r>
              <a:t>Right Box (The Environment): SUMO simulating 98 signals, ~15,000 cars, and microscopic road physics across Ingolstadt.</a:t>
            </a:r>
          </a:p>
          <a:p>
            <a:pPr>
              <a:defRPr sz="950">
                <a:solidFill>
                  <a:srgbClr val="0F172A"/>
                </a:solidFill>
              </a:defRPr>
            </a:pPr>
            <a:r>
              <a:t>Top Arrow (Action): Sent every 5 seconds: 0 = Keep Green, 1 = Advance to Next Phase.</a:t>
            </a:r>
          </a:p>
          <a:p>
            <a:pPr>
              <a:defRPr sz="950">
                <a:solidFill>
                  <a:srgbClr val="0F172A"/>
                </a:solidFill>
              </a:defRPr>
            </a:pPr>
            <a:r>
              <a:t>Middle Arrow (State): 22 normalized features: current phase, elapsed green time, queue lengths, 300m feeder jams, and neighbor traffic.</a:t>
            </a:r>
          </a:p>
          <a:p>
            <a:pPr>
              <a:defRPr sz="950">
                <a:solidFill>
                  <a:srgbClr val="0F172A"/>
                </a:solidFill>
              </a:defRPr>
            </a:pPr>
            <a:r>
              <a:t>Bottom Arrow (Reward): A direct cost penalty proportional to stopped queues, driver delays, and city boundary backlogs.</a:t>
            </a:r>
          </a:p>
          <a:p>
            <a:pPr>
              <a:defRPr sz="950">
                <a:solidFill>
                  <a:srgbClr val="0F172A"/>
                </a:solidFill>
              </a:defRPr>
            </a:pPr>
            <a:r>
              <a:t>The Bottom Banner (Safety Layer): A deterministic filter ensuring minimum green, maximum green, and yellow clearance are never violated.</a:t>
            </a:r>
          </a:p>
        </p:txBody>
      </p:sp>
      <p:sp>
        <p:nvSpPr>
          <p:cNvPr id="10" name="Rounded Rectangle 9"/>
          <p:cNvSpPr/>
          <p:nvPr/>
        </p:nvSpPr>
        <p:spPr>
          <a:xfrm>
            <a:off x="731520" y="5532120"/>
            <a:ext cx="10728655" cy="914400"/>
          </a:xfrm>
          <a:prstGeom prst="roundRect">
            <a:avLst/>
          </a:prstGeom>
          <a:solidFill>
            <a:srgbClr val="F0FDF4"/>
          </a:solidFill>
          <a:ln w="15240">
            <a:solidFill>
              <a:srgbClr val="BBF7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5605272"/>
            <a:ext cx="10454335" cy="768096"/>
          </a:xfrm>
          <a:prstGeom prst="rect">
            <a:avLst/>
          </a:prstGeom>
          <a:noFill/>
        </p:spPr>
        <p:txBody>
          <a:bodyPr wrap="square" tIns="0" bIns="0" lIns="0" rIns="0">
            <a:spAutoFit/>
          </a:bodyPr>
          <a:lstStyle/>
          <a:p>
            <a:pPr>
              <a:defRPr sz="950" b="1">
                <a:solidFill>
                  <a:srgbClr val="166534"/>
                </a:solidFill>
                <a:latin typeface="Helvetica"/>
              </a:defRPr>
            </a:pPr>
            <a:r>
              <a:t>💡 HOW TO EXPLAIN TO THE PROFESSOR IN 20 SECONDS (FIGURE 1 WALKTHROUGH):</a:t>
            </a:r>
          </a:p>
          <a:p>
            <a:pPr>
              <a:defRPr sz="1000">
                <a:solidFill>
                  <a:srgbClr val="0F172A"/>
                </a:solidFill>
                <a:latin typeface="Arial"/>
              </a:defRPr>
            </a:pPr>
            <a:r>
              <a:t>Explain to the professor: 'Point directly to Figure 1: On the left is our single shared neural network. On the right is SUMO. Every 5 seconds, the agent receives 22 numbers describing traffic, picks an action, and the safety layer ensures yellow and red clearance are never skipped. This loop runs 720 times per hour.'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solidFill>
              <a:srgbClr val="F8FA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411480"/>
            <a:ext cx="2926080" cy="292608"/>
          </a:xfrm>
          <a:prstGeom prst="roundRect">
            <a:avLst/>
          </a:prstGeom>
          <a:solidFill>
            <a:srgbClr val="EFF6FF"/>
          </a:solidFill>
          <a:ln>
            <a:solidFill>
              <a:srgbClr val="EFF6FF"/>
            </a:solidFill>
          </a:ln>
        </p:spPr>
        <p:style>
          <a:lnRef idx="1">
            <a:schemeClr val="accent1"/>
          </a:lnRef>
          <a:fillRef idx="3">
            <a:schemeClr val="accent1"/>
          </a:fillRef>
          <a:effectRef idx="2">
            <a:schemeClr val="accent1"/>
          </a:effectRef>
          <a:fontRef idx="minor">
            <a:schemeClr val="lt1"/>
          </a:fontRef>
        </p:style>
        <p:txBody>
          <a:bodyPr rtlCol="0" anchor="ctr" tIns="0" bIns="0" lIns="0" rIns="0" wrap="square"/>
          <a:lstStyle/>
          <a:p>
            <a:pPr algn="ctr">
              <a:defRPr sz="950" b="1">
                <a:solidFill>
                  <a:srgbClr val="1D4ED8"/>
                </a:solidFill>
                <a:latin typeface="Helvetica"/>
              </a:defRPr>
            </a:pPr>
            <a:r>
              <a:t>SYSTEM ARCHITECTURE EVOLUTION</a:t>
            </a:r>
          </a:p>
        </p:txBody>
      </p:sp>
      <p:sp>
        <p:nvSpPr>
          <p:cNvPr id="4" name="TextBox 3"/>
          <p:cNvSpPr txBox="1"/>
          <p:nvPr/>
        </p:nvSpPr>
        <p:spPr>
          <a:xfrm>
            <a:off x="10515600" y="365760"/>
            <a:ext cx="914400" cy="320040"/>
          </a:xfrm>
          <a:prstGeom prst="rect">
            <a:avLst/>
          </a:prstGeom>
          <a:noFill/>
        </p:spPr>
        <p:txBody>
          <a:bodyPr wrap="none">
            <a:spAutoFit/>
          </a:bodyPr>
          <a:lstStyle/>
          <a:p>
            <a:pPr algn="r">
              <a:defRPr sz="1000">
                <a:solidFill>
                  <a:srgbClr val="64748B"/>
                </a:solidFill>
                <a:latin typeface="Arial"/>
              </a:defRPr>
            </a:pPr>
            <a:r>
              <a:t>06 / 18</a:t>
            </a:r>
          </a:p>
        </p:txBody>
      </p:sp>
      <p:sp>
        <p:nvSpPr>
          <p:cNvPr id="5" name="TextBox 4"/>
          <p:cNvSpPr txBox="1"/>
          <p:nvPr/>
        </p:nvSpPr>
        <p:spPr>
          <a:xfrm>
            <a:off x="731520" y="777240"/>
            <a:ext cx="10728655" cy="868680"/>
          </a:xfrm>
          <a:prstGeom prst="rect">
            <a:avLst/>
          </a:prstGeom>
          <a:noFill/>
        </p:spPr>
        <p:txBody>
          <a:bodyPr wrap="square" tIns="0" bIns="0" lIns="0" rIns="0">
            <a:spAutoFit/>
          </a:bodyPr>
          <a:lstStyle/>
          <a:p>
            <a:pPr>
              <a:defRPr sz="2100" b="1">
                <a:solidFill>
                  <a:srgbClr val="0F172A"/>
                </a:solidFill>
                <a:latin typeface="Helvetica"/>
              </a:defRPr>
            </a:pPr>
            <a:r>
              <a:t>Architectural Exploration: 3 Approaches Tested</a:t>
            </a:r>
          </a:p>
          <a:p>
            <a:pPr>
              <a:defRPr sz="1150">
                <a:solidFill>
                  <a:srgbClr val="64748B"/>
                </a:solidFill>
                <a:latin typeface="Arial"/>
              </a:defRPr>
            </a:pPr>
            <a:r>
              <a:t>Directly reflecting our handwritten engineering journey from Centralized to IPPO</a:t>
            </a:r>
          </a:p>
        </p:txBody>
      </p:sp>
      <p:sp>
        <p:nvSpPr>
          <p:cNvPr id="6" name="Rounded Rectangle 5"/>
          <p:cNvSpPr/>
          <p:nvPr/>
        </p:nvSpPr>
        <p:spPr>
          <a:xfrm>
            <a:off x="731520" y="1737360"/>
            <a:ext cx="3328416" cy="361188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01952"/>
            <a:ext cx="2962656" cy="3282696"/>
          </a:xfrm>
          <a:prstGeom prst="rect">
            <a:avLst/>
          </a:prstGeom>
          <a:noFill/>
        </p:spPr>
        <p:txBody>
          <a:bodyPr wrap="square">
            <a:spAutoFit/>
          </a:bodyPr>
          <a:lstStyle/>
          <a:p>
            <a:pPr>
              <a:defRPr sz="1300" b="1">
                <a:solidFill>
                  <a:srgbClr val="EB6834"/>
                </a:solidFill>
                <a:latin typeface="Helvetica"/>
              </a:defRPr>
            </a:pPr>
            <a:r>
              <a:t>Approach 1: Centralized Agent ❌</a:t>
            </a:r>
          </a:p>
          <a:p>
            <a:pPr>
              <a:defRPr sz="950">
                <a:solidFill>
                  <a:srgbClr val="0F172A"/>
                </a:solidFill>
              </a:defRPr>
            </a:pPr>
            <a:r>
              <a:t>• Concept: One single central controller observes the entire city state and selects joint actions for all 98 intersections.</a:t>
            </a:r>
          </a:p>
          <a:p>
            <a:pPr>
              <a:defRPr sz="950">
                <a:solidFill>
                  <a:srgbClr val="0F172A"/>
                </a:solidFill>
              </a:defRPr>
            </a:pPr>
            <a:r>
              <a:t>• Observation Space: Combined state vector of thousands of raw lane queues.</a:t>
            </a:r>
          </a:p>
          <a:p>
            <a:pPr>
              <a:defRPr sz="950">
                <a:solidFill>
                  <a:srgbClr val="0F172A"/>
                </a:solidFill>
              </a:defRPr>
            </a:pPr>
            <a:r>
              <a:t>• Action Space Explosion: With 98 binary signals, joint discrete action space is 2^98 ≈ 3.16 × 10^29 actions per step!</a:t>
            </a:r>
          </a:p>
          <a:p>
            <a:pPr>
              <a:defRPr sz="950">
                <a:solidFill>
                  <a:srgbClr val="0F172A"/>
                </a:solidFill>
              </a:defRPr>
            </a:pPr>
            <a:r>
              <a:t>• Why It Failed: Mathematically intractable. Neural networks cannot sample or converge across 10^29 joint actions. Severe sample inefficiency.</a:t>
            </a:r>
          </a:p>
        </p:txBody>
      </p:sp>
      <p:sp>
        <p:nvSpPr>
          <p:cNvPr id="8" name="Rounded Rectangle 7"/>
          <p:cNvSpPr/>
          <p:nvPr/>
        </p:nvSpPr>
        <p:spPr>
          <a:xfrm>
            <a:off x="4425696" y="1737360"/>
            <a:ext cx="3328416" cy="361188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608576" y="1901952"/>
            <a:ext cx="2962656" cy="3282696"/>
          </a:xfrm>
          <a:prstGeom prst="rect">
            <a:avLst/>
          </a:prstGeom>
          <a:noFill/>
        </p:spPr>
        <p:txBody>
          <a:bodyPr wrap="square">
            <a:spAutoFit/>
          </a:bodyPr>
          <a:lstStyle/>
          <a:p>
            <a:pPr>
              <a:defRPr sz="1300" b="1">
                <a:solidFill>
                  <a:srgbClr val="92400F"/>
                </a:solidFill>
                <a:latin typeface="Helvetica"/>
              </a:defRPr>
            </a:pPr>
            <a:r>
              <a:t>Approach 2: 98 Separate Agents ❌</a:t>
            </a:r>
          </a:p>
          <a:p>
            <a:pPr>
              <a:defRPr sz="950">
                <a:solidFill>
                  <a:srgbClr val="0F172A"/>
                </a:solidFill>
              </a:defRPr>
            </a:pPr>
            <a:r>
              <a:t>• Concept: Every single intersection gets its own dedicated, specialized neural network policy.</a:t>
            </a:r>
          </a:p>
          <a:p>
            <a:pPr>
              <a:defRPr sz="950">
                <a:solidFill>
                  <a:srgbClr val="0F172A"/>
                </a:solidFill>
              </a:defRPr>
            </a:pPr>
            <a:r>
              <a:t>• Theoretical Appeal: Each policy network can specialize in the unique geometry of its intersection.</a:t>
            </a:r>
          </a:p>
          <a:p>
            <a:pPr>
              <a:defRPr sz="950">
                <a:solidFill>
                  <a:srgbClr val="0F172A"/>
                </a:solidFill>
              </a:defRPr>
            </a:pPr>
            <a:r>
              <a:t>• Massive Overhead: Training, checkpointing, and optimizing 98 distinct neural networks simultaneously.</a:t>
            </a:r>
          </a:p>
          <a:p>
            <a:pPr>
              <a:defRPr sz="950">
                <a:solidFill>
                  <a:srgbClr val="0F172A"/>
                </a:solidFill>
              </a:defRPr>
            </a:pPr>
            <a:r>
              <a:t>• Why It Failed: Environment non-stationarity. Each agent changed the traffic environment for its neighbors, destabilizing learning. Zero knowledge transfer between junctions.</a:t>
            </a:r>
          </a:p>
        </p:txBody>
      </p:sp>
      <p:sp>
        <p:nvSpPr>
          <p:cNvPr id="10" name="Rounded Rectangle 9"/>
          <p:cNvSpPr/>
          <p:nvPr/>
        </p:nvSpPr>
        <p:spPr>
          <a:xfrm>
            <a:off x="8119872" y="1737360"/>
            <a:ext cx="3328416" cy="361188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302752" y="1901952"/>
            <a:ext cx="2962656" cy="3282696"/>
          </a:xfrm>
          <a:prstGeom prst="rect">
            <a:avLst/>
          </a:prstGeom>
          <a:noFill/>
        </p:spPr>
        <p:txBody>
          <a:bodyPr wrap="square">
            <a:spAutoFit/>
          </a:bodyPr>
          <a:lstStyle/>
          <a:p>
            <a:pPr>
              <a:defRPr sz="1300" b="1">
                <a:solidFill>
                  <a:srgbClr val="10B981"/>
                </a:solidFill>
                <a:latin typeface="Helvetica"/>
              </a:defRPr>
            </a:pPr>
            <a:r>
              <a:t>Approach 3: IPPO + Shared Network ✅</a:t>
            </a:r>
          </a:p>
          <a:p>
            <a:pPr>
              <a:defRPr sz="950">
                <a:solidFill>
                  <a:srgbClr val="0F172A"/>
                </a:solidFill>
              </a:defRPr>
            </a:pPr>
            <a:r>
              <a:t>• Concept: Independent PPO (IPPO) with Parameter Sharing + Neighbor Observation Sharing.</a:t>
            </a:r>
          </a:p>
          <a:p>
            <a:pPr>
              <a:defRPr sz="950">
                <a:solidFill>
                  <a:srgbClr val="0F172A"/>
                </a:solidFill>
              </a:defRPr>
            </a:pPr>
            <a:r>
              <a:t>• One Shared Brain: All 98 intersections share one identical Actor-Critic policy (22 -&gt; 256 -&gt; 256 -&gt; 2).</a:t>
            </a:r>
          </a:p>
          <a:p>
            <a:pPr>
              <a:defRPr sz="950">
                <a:solidFill>
                  <a:srgbClr val="0F172A"/>
                </a:solidFill>
              </a:defRPr>
            </a:pPr>
            <a:r>
              <a:t>• Local Observations: Each signal inputs its own 22-dim local view (including queues from immediate neighbor junctions).</a:t>
            </a:r>
          </a:p>
          <a:p>
            <a:pPr>
              <a:defRPr sz="950">
                <a:solidFill>
                  <a:srgbClr val="0F172A"/>
                </a:solidFill>
              </a:defRPr>
            </a:pPr>
            <a:r>
              <a:t>• Why It Won: Massive sample efficiency! Every 5s step produces 98 experience transitions. Knowledge learned on a major avenue immediately generalizes across the city.</a:t>
            </a:r>
          </a:p>
        </p:txBody>
      </p:sp>
      <p:sp>
        <p:nvSpPr>
          <p:cNvPr id="12" name="Rounded Rectangle 11"/>
          <p:cNvSpPr/>
          <p:nvPr/>
        </p:nvSpPr>
        <p:spPr>
          <a:xfrm>
            <a:off x="731520" y="5532120"/>
            <a:ext cx="10728655" cy="914400"/>
          </a:xfrm>
          <a:prstGeom prst="roundRect">
            <a:avLst/>
          </a:prstGeom>
          <a:solidFill>
            <a:srgbClr val="F0FDF4"/>
          </a:solidFill>
          <a:ln w="15240">
            <a:solidFill>
              <a:srgbClr val="BBF7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8680" y="5605272"/>
            <a:ext cx="10454335" cy="768096"/>
          </a:xfrm>
          <a:prstGeom prst="rect">
            <a:avLst/>
          </a:prstGeom>
          <a:noFill/>
        </p:spPr>
        <p:txBody>
          <a:bodyPr wrap="square" tIns="0" bIns="0" lIns="0" rIns="0">
            <a:spAutoFit/>
          </a:bodyPr>
          <a:lstStyle/>
          <a:p>
            <a:pPr>
              <a:defRPr sz="950" b="1">
                <a:solidFill>
                  <a:srgbClr val="166534"/>
                </a:solidFill>
                <a:latin typeface="Helvetica"/>
              </a:defRPr>
            </a:pPr>
            <a:r>
              <a:t>💡 HOW TO EXPLAIN TO THE PROFESSOR IN 20 SECONDS (ARCHITECTURAL LESSON):</a:t>
            </a:r>
          </a:p>
          <a:p>
            <a:pPr>
              <a:defRPr sz="1000">
                <a:solidFill>
                  <a:srgbClr val="0F172A"/>
                </a:solidFill>
                <a:latin typeface="Arial"/>
              </a:defRPr>
            </a:pPr>
            <a:r>
              <a:t>Explain to the professor: 'As written in our review notes, we tested all three architectures: A centralized agent suffers from 2^98 action space explosion; 98 separate networks suffer from non-stationarity and compute bloat; but IPPO with parameter sharing gives us 98x sample efficiency and spatial generalization.'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solidFill>
              <a:srgbClr val="F8FA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411480"/>
            <a:ext cx="2926080" cy="292608"/>
          </a:xfrm>
          <a:prstGeom prst="roundRect">
            <a:avLst/>
          </a:prstGeom>
          <a:solidFill>
            <a:srgbClr val="EFF6FF"/>
          </a:solidFill>
          <a:ln>
            <a:solidFill>
              <a:srgbClr val="EFF6FF"/>
            </a:solidFill>
          </a:ln>
        </p:spPr>
        <p:style>
          <a:lnRef idx="1">
            <a:schemeClr val="accent1"/>
          </a:lnRef>
          <a:fillRef idx="3">
            <a:schemeClr val="accent1"/>
          </a:fillRef>
          <a:effectRef idx="2">
            <a:schemeClr val="accent1"/>
          </a:effectRef>
          <a:fontRef idx="minor">
            <a:schemeClr val="lt1"/>
          </a:fontRef>
        </p:style>
        <p:txBody>
          <a:bodyPr rtlCol="0" anchor="ctr" tIns="0" bIns="0" lIns="0" rIns="0" wrap="square"/>
          <a:lstStyle/>
          <a:p>
            <a:pPr algn="ctr">
              <a:defRPr sz="950" b="1">
                <a:solidFill>
                  <a:srgbClr val="1D4ED8"/>
                </a:solidFill>
                <a:latin typeface="Helvetica"/>
              </a:defRPr>
            </a:pPr>
            <a:r>
              <a:t>THEORETICAL FOUNDATIONS</a:t>
            </a:r>
          </a:p>
        </p:txBody>
      </p:sp>
      <p:sp>
        <p:nvSpPr>
          <p:cNvPr id="4" name="TextBox 3"/>
          <p:cNvSpPr txBox="1"/>
          <p:nvPr/>
        </p:nvSpPr>
        <p:spPr>
          <a:xfrm>
            <a:off x="10515600" y="365760"/>
            <a:ext cx="914400" cy="320040"/>
          </a:xfrm>
          <a:prstGeom prst="rect">
            <a:avLst/>
          </a:prstGeom>
          <a:noFill/>
        </p:spPr>
        <p:txBody>
          <a:bodyPr wrap="none">
            <a:spAutoFit/>
          </a:bodyPr>
          <a:lstStyle/>
          <a:p>
            <a:pPr algn="r">
              <a:defRPr sz="1000">
                <a:solidFill>
                  <a:srgbClr val="64748B"/>
                </a:solidFill>
                <a:latin typeface="Arial"/>
              </a:defRPr>
            </a:pPr>
            <a:r>
              <a:t>07 / 18</a:t>
            </a:r>
          </a:p>
        </p:txBody>
      </p:sp>
      <p:sp>
        <p:nvSpPr>
          <p:cNvPr id="5" name="TextBox 4"/>
          <p:cNvSpPr txBox="1"/>
          <p:nvPr/>
        </p:nvSpPr>
        <p:spPr>
          <a:xfrm>
            <a:off x="731520" y="777240"/>
            <a:ext cx="10728655" cy="868680"/>
          </a:xfrm>
          <a:prstGeom prst="rect">
            <a:avLst/>
          </a:prstGeom>
          <a:noFill/>
        </p:spPr>
        <p:txBody>
          <a:bodyPr wrap="square" tIns="0" bIns="0" lIns="0" rIns="0">
            <a:spAutoFit/>
          </a:bodyPr>
          <a:lstStyle/>
          <a:p>
            <a:pPr>
              <a:defRPr sz="2100" b="1">
                <a:solidFill>
                  <a:srgbClr val="0F172A"/>
                </a:solidFill>
                <a:latin typeface="Helvetica"/>
              </a:defRPr>
            </a:pPr>
            <a:r>
              <a:t>Why PPO? Grounded in Sudharsan Ravichandiran (2018)</a:t>
            </a:r>
          </a:p>
          <a:p>
            <a:pPr>
              <a:defRPr sz="1150">
                <a:solidFill>
                  <a:srgbClr val="64748B"/>
                </a:solidFill>
                <a:latin typeface="Arial"/>
              </a:defRPr>
            </a:pPr>
            <a:r>
              <a:t>Comparing classical RL algorithms against PPO across stability, variance, and sample efficiency</a:t>
            </a:r>
          </a:p>
        </p:txBody>
      </p:sp>
      <p:graphicFrame>
        <p:nvGraphicFramePr>
          <p:cNvPr id="6" name="Table 5"/>
          <p:cNvGraphicFramePr>
            <a:graphicFrameLocks noGrp="1"/>
          </p:cNvGraphicFramePr>
          <p:nvPr/>
        </p:nvGraphicFramePr>
        <p:xfrm>
          <a:off x="731520" y="1737360"/>
          <a:ext cx="10728655" cy="3611880"/>
        </p:xfrm>
        <a:graphic>
          <a:graphicData uri="http://schemas.openxmlformats.org/drawingml/2006/table">
            <a:tbl>
              <a:tblPr firstRow="1" bandRow="1">
                <a:tableStyleId>{5C22544A-7EE6-4342-B048-85BDC9FD1C3A}</a:tableStyleId>
              </a:tblPr>
              <a:tblGrid>
                <a:gridCol w="2011680"/>
                <a:gridCol w="1645920"/>
                <a:gridCol w="3840480"/>
                <a:gridCol w="3230575"/>
              </a:tblGrid>
              <a:tr h="601980">
                <a:tc>
                  <a:txBody>
                    <a:bodyPr/>
                    <a:lstStyle/>
                    <a:p>
                      <a:pPr>
                        <a:defRPr sz="1100" b="1">
                          <a:solidFill>
                            <a:srgbClr val="FFFFFF"/>
                          </a:solidFill>
                          <a:latin typeface="Helvetica"/>
                        </a:defRPr>
                      </a:pPr>
                      <a:r>
                        <a:t>Algorithm</a:t>
                      </a:r>
                    </a:p>
                  </a:txBody>
                  <a:tcPr>
                    <a:solidFill>
                      <a:srgbClr val="0F172A"/>
                    </a:solidFill>
                  </a:tcPr>
                </a:tc>
                <a:tc>
                  <a:txBody>
                    <a:bodyPr/>
                    <a:lstStyle/>
                    <a:p>
                      <a:pPr>
                        <a:defRPr sz="1100" b="1">
                          <a:solidFill>
                            <a:srgbClr val="FFFFFF"/>
                          </a:solidFill>
                          <a:latin typeface="Helvetica"/>
                        </a:defRPr>
                      </a:pPr>
                      <a:r>
                        <a:t>Book Reference</a:t>
                      </a:r>
                    </a:p>
                  </a:txBody>
                  <a:tcPr>
                    <a:solidFill>
                      <a:srgbClr val="0F172A"/>
                    </a:solidFill>
                  </a:tcPr>
                </a:tc>
                <a:tc>
                  <a:txBody>
                    <a:bodyPr/>
                    <a:lstStyle/>
                    <a:p>
                      <a:pPr>
                        <a:defRPr sz="1100" b="1">
                          <a:solidFill>
                            <a:srgbClr val="FFFFFF"/>
                          </a:solidFill>
                          <a:latin typeface="Helvetica"/>
                        </a:defRPr>
                      </a:pPr>
                      <a:r>
                        <a:t>Why It Fails on 98-Signal City Control</a:t>
                      </a:r>
                    </a:p>
                  </a:txBody>
                  <a:tcPr>
                    <a:solidFill>
                      <a:srgbClr val="0F172A"/>
                    </a:solidFill>
                  </a:tcPr>
                </a:tc>
                <a:tc>
                  <a:txBody>
                    <a:bodyPr/>
                    <a:lstStyle/>
                    <a:p>
                      <a:pPr>
                        <a:defRPr sz="1100" b="1">
                          <a:solidFill>
                            <a:srgbClr val="FFFFFF"/>
                          </a:solidFill>
                          <a:latin typeface="Helvetica"/>
                        </a:defRPr>
                      </a:pPr>
                      <a:r>
                        <a:t>Why PPO / IPPO Wins</a:t>
                      </a:r>
                    </a:p>
                  </a:txBody>
                  <a:tcPr>
                    <a:solidFill>
                      <a:srgbClr val="0F172A"/>
                    </a:solidFill>
                  </a:tcPr>
                </a:tc>
              </a:tr>
              <a:tr h="601980">
                <a:tc>
                  <a:txBody>
                    <a:bodyPr/>
                    <a:lstStyle/>
                    <a:p>
                      <a:pPr>
                        <a:defRPr sz="950" b="1">
                          <a:solidFill>
                            <a:srgbClr val="0F172A"/>
                          </a:solidFill>
                          <a:latin typeface="Arial"/>
                        </a:defRPr>
                      </a:pPr>
                      <a:r>
                        <a:t>Q-Learning / Tabular TD</a:t>
                      </a:r>
                    </a:p>
                  </a:txBody>
                  <a:tcPr>
                    <a:solidFill>
                      <a:srgbClr val="FFFFFF"/>
                    </a:solidFill>
                  </a:tcPr>
                </a:tc>
                <a:tc>
                  <a:txBody>
                    <a:bodyPr/>
                    <a:lstStyle/>
                    <a:p>
                      <a:pPr>
                        <a:defRPr sz="950">
                          <a:solidFill>
                            <a:srgbClr val="0F172A"/>
                          </a:solidFill>
                          <a:latin typeface="Arial"/>
                        </a:defRPr>
                      </a:pPr>
                      <a:r>
                        <a:t>Ch 3 &amp; 5 (pp. 53–120)</a:t>
                      </a:r>
                    </a:p>
                  </a:txBody>
                  <a:tcPr>
                    <a:solidFill>
                      <a:srgbClr val="FFFFFF"/>
                    </a:solidFill>
                  </a:tcPr>
                </a:tc>
                <a:tc>
                  <a:txBody>
                    <a:bodyPr/>
                    <a:lstStyle/>
                    <a:p>
                      <a:pPr>
                        <a:defRPr sz="950">
                          <a:solidFill>
                            <a:srgbClr val="0F172A"/>
                          </a:solidFill>
                          <a:latin typeface="Arial"/>
                        </a:defRPr>
                      </a:pPr>
                      <a:r>
                        <a:t>State space is continuous &amp; infinite (22 numbers per signal). Tabular Q cannot generalize.</a:t>
                      </a:r>
                    </a:p>
                  </a:txBody>
                  <a:tcPr>
                    <a:solidFill>
                      <a:srgbClr val="FFFFFF"/>
                    </a:solidFill>
                  </a:tcPr>
                </a:tc>
                <a:tc>
                  <a:txBody>
                    <a:bodyPr/>
                    <a:lstStyle/>
                    <a:p>
                      <a:pPr>
                        <a:defRPr sz="950">
                          <a:solidFill>
                            <a:srgbClr val="0F172A"/>
                          </a:solidFill>
                          <a:latin typeface="Arial"/>
                        </a:defRPr>
                      </a:pPr>
                      <a:r>
                        <a:t>PPO uses deep neural network function approximation mapping continuous states to actions.</a:t>
                      </a:r>
                    </a:p>
                  </a:txBody>
                  <a:tcPr>
                    <a:solidFill>
                      <a:srgbClr val="FFFFFF"/>
                    </a:solidFill>
                  </a:tcPr>
                </a:tc>
              </a:tr>
              <a:tr h="601980">
                <a:tc>
                  <a:txBody>
                    <a:bodyPr/>
                    <a:lstStyle/>
                    <a:p>
                      <a:pPr>
                        <a:defRPr sz="950" b="1">
                          <a:solidFill>
                            <a:srgbClr val="0F172A"/>
                          </a:solidFill>
                          <a:latin typeface="Arial"/>
                        </a:defRPr>
                      </a:pPr>
                      <a:r>
                        <a:t>Deep Q-Networks (DQN)</a:t>
                      </a:r>
                    </a:p>
                  </a:txBody>
                  <a:tcPr>
                    <a:solidFill>
                      <a:srgbClr val="F1F5F9"/>
                    </a:solidFill>
                  </a:tcPr>
                </a:tc>
                <a:tc>
                  <a:txBody>
                    <a:bodyPr/>
                    <a:lstStyle/>
                    <a:p>
                      <a:pPr>
                        <a:defRPr sz="950">
                          <a:solidFill>
                            <a:srgbClr val="0F172A"/>
                          </a:solidFill>
                          <a:latin typeface="Arial"/>
                        </a:defRPr>
                      </a:pPr>
                      <a:r>
                        <a:t>Ch 8 (pp. 165–188)</a:t>
                      </a:r>
                    </a:p>
                  </a:txBody>
                  <a:tcPr>
                    <a:solidFill>
                      <a:srgbClr val="F1F5F9"/>
                    </a:solidFill>
                  </a:tcPr>
                </a:tc>
                <a:tc>
                  <a:txBody>
                    <a:bodyPr/>
                    <a:lstStyle/>
                    <a:p>
                      <a:pPr>
                        <a:defRPr sz="950">
                          <a:solidFill>
                            <a:srgbClr val="0F172A"/>
                          </a:solidFill>
                          <a:latin typeface="Arial"/>
                        </a:defRPr>
                      </a:pPr>
                      <a:r>
                        <a:t>Joint action space is 2^98. In multi-agent, off-policy non-stationarity invalidates replay buffer.</a:t>
                      </a:r>
                    </a:p>
                  </a:txBody>
                  <a:tcPr>
                    <a:solidFill>
                      <a:srgbClr val="F1F5F9"/>
                    </a:solidFill>
                  </a:tcPr>
                </a:tc>
                <a:tc>
                  <a:txBody>
                    <a:bodyPr/>
                    <a:lstStyle/>
                    <a:p>
                      <a:pPr>
                        <a:defRPr sz="950">
                          <a:solidFill>
                            <a:srgbClr val="0F172A"/>
                          </a:solidFill>
                          <a:latin typeface="Arial"/>
                        </a:defRPr>
                      </a:pPr>
                      <a:r>
                        <a:t>PPO is on-policy; handles multi-agent decentralized transitions naturally without replay corruption.</a:t>
                      </a:r>
                    </a:p>
                  </a:txBody>
                  <a:tcPr>
                    <a:solidFill>
                      <a:srgbClr val="F1F5F9"/>
                    </a:solidFill>
                  </a:tcPr>
                </a:tc>
              </a:tr>
              <a:tr h="601980">
                <a:tc>
                  <a:txBody>
                    <a:bodyPr/>
                    <a:lstStyle/>
                    <a:p>
                      <a:pPr>
                        <a:defRPr sz="950" b="1">
                          <a:solidFill>
                            <a:srgbClr val="0F172A"/>
                          </a:solidFill>
                          <a:latin typeface="Arial"/>
                        </a:defRPr>
                      </a:pPr>
                      <a:r>
                        <a:t>REINFORCE (Vanilla PG)</a:t>
                      </a:r>
                    </a:p>
                  </a:txBody>
                  <a:tcPr>
                    <a:solidFill>
                      <a:srgbClr val="FFFFFF"/>
                    </a:solidFill>
                  </a:tcPr>
                </a:tc>
                <a:tc>
                  <a:txBody>
                    <a:bodyPr/>
                    <a:lstStyle/>
                    <a:p>
                      <a:pPr>
                        <a:defRPr sz="950">
                          <a:solidFill>
                            <a:srgbClr val="0F172A"/>
                          </a:solidFill>
                          <a:latin typeface="Arial"/>
                        </a:defRPr>
                      </a:pPr>
                      <a:r>
                        <a:t>Ch 11 (pp. 226–230)</a:t>
                      </a:r>
                    </a:p>
                  </a:txBody>
                  <a:tcPr>
                    <a:solidFill>
                      <a:srgbClr val="FFFFFF"/>
                    </a:solidFill>
                  </a:tcPr>
                </a:tc>
                <a:tc>
                  <a:txBody>
                    <a:bodyPr/>
                    <a:lstStyle/>
                    <a:p>
                      <a:pPr>
                        <a:defRPr sz="950">
                          <a:solidFill>
                            <a:srgbClr val="0F172A"/>
                          </a:solidFill>
                          <a:latin typeface="Arial"/>
                        </a:defRPr>
                      </a:pPr>
                      <a:r>
                        <a:t>Relies on full episode Monte Carlo returns. Massive variance, slow learning, no baseline.</a:t>
                      </a:r>
                    </a:p>
                  </a:txBody>
                  <a:tcPr>
                    <a:solidFill>
                      <a:srgbClr val="FFFFFF"/>
                    </a:solidFill>
                  </a:tcPr>
                </a:tc>
                <a:tc>
                  <a:txBody>
                    <a:bodyPr/>
                    <a:lstStyle/>
                    <a:p>
                      <a:pPr>
                        <a:defRPr sz="950">
                          <a:solidFill>
                            <a:srgbClr val="0F172A"/>
                          </a:solidFill>
                          <a:latin typeface="Arial"/>
                        </a:defRPr>
                      </a:pPr>
                      <a:r>
                        <a:t>PPO uses Actor-Critic with GAE (gamma=0.99, lambda=0.95), drastically reducing return variance.</a:t>
                      </a:r>
                    </a:p>
                  </a:txBody>
                  <a:tcPr>
                    <a:solidFill>
                      <a:srgbClr val="FFFFFF"/>
                    </a:solidFill>
                  </a:tcPr>
                </a:tc>
              </a:tr>
              <a:tr h="601980">
                <a:tc>
                  <a:txBody>
                    <a:bodyPr/>
                    <a:lstStyle/>
                    <a:p>
                      <a:pPr>
                        <a:defRPr sz="950" b="1">
                          <a:solidFill>
                            <a:srgbClr val="0F172A"/>
                          </a:solidFill>
                          <a:latin typeface="Arial"/>
                        </a:defRPr>
                      </a:pPr>
                      <a:r>
                        <a:t>A2C / A3C (Actor-Critic)</a:t>
                      </a:r>
                    </a:p>
                  </a:txBody>
                  <a:tcPr>
                    <a:solidFill>
                      <a:srgbClr val="F1F5F9"/>
                    </a:solidFill>
                  </a:tcPr>
                </a:tc>
                <a:tc>
                  <a:txBody>
                    <a:bodyPr/>
                    <a:lstStyle/>
                    <a:p>
                      <a:pPr>
                        <a:defRPr sz="950">
                          <a:solidFill>
                            <a:srgbClr val="0F172A"/>
                          </a:solidFill>
                          <a:latin typeface="Arial"/>
                        </a:defRPr>
                      </a:pPr>
                      <a:r>
                        <a:t>Ch 10 (pp. 208–224)</a:t>
                      </a:r>
                    </a:p>
                  </a:txBody>
                  <a:tcPr>
                    <a:solidFill>
                      <a:srgbClr val="F1F5F9"/>
                    </a:solidFill>
                  </a:tcPr>
                </a:tc>
                <a:tc>
                  <a:txBody>
                    <a:bodyPr/>
                    <a:lstStyle/>
                    <a:p>
                      <a:pPr>
                        <a:defRPr sz="950">
                          <a:solidFill>
                            <a:srgbClr val="0F172A"/>
                          </a:solidFill>
                          <a:latin typeface="Arial"/>
                        </a:defRPr>
                      </a:pPr>
                      <a:r>
                        <a:t>Unconstrained policy updates. One bad gradient can push policy off a cliff into irrecoverable collapse.</a:t>
                      </a:r>
                    </a:p>
                  </a:txBody>
                  <a:tcPr>
                    <a:solidFill>
                      <a:srgbClr val="F1F5F9"/>
                    </a:solidFill>
                  </a:tcPr>
                </a:tc>
                <a:tc>
                  <a:txBody>
                    <a:bodyPr/>
                    <a:lstStyle/>
                    <a:p>
                      <a:pPr>
                        <a:defRPr sz="950">
                          <a:solidFill>
                            <a:srgbClr val="0F172A"/>
                          </a:solidFill>
                          <a:latin typeface="Arial"/>
                        </a:defRPr>
                      </a:pPr>
                      <a:r>
                        <a:t>PPO clips the surrogate objective to [1-eps, 1+eps], guaranteeing safe, monotonic policy updates.</a:t>
                      </a:r>
                    </a:p>
                  </a:txBody>
                  <a:tcPr>
                    <a:solidFill>
                      <a:srgbClr val="F1F5F9"/>
                    </a:solidFill>
                  </a:tcPr>
                </a:tc>
              </a:tr>
              <a:tr h="601980">
                <a:tc>
                  <a:txBody>
                    <a:bodyPr/>
                    <a:lstStyle/>
                    <a:p>
                      <a:pPr>
                        <a:defRPr sz="950" b="1">
                          <a:solidFill>
                            <a:srgbClr val="0F172A"/>
                          </a:solidFill>
                          <a:latin typeface="Arial"/>
                        </a:defRPr>
                      </a:pPr>
                      <a:r>
                        <a:t>TRPO (Trust Region)</a:t>
                      </a:r>
                    </a:p>
                  </a:txBody>
                  <a:tcPr>
                    <a:solidFill>
                      <a:srgbClr val="FFFFFF"/>
                    </a:solidFill>
                  </a:tcPr>
                </a:tc>
                <a:tc>
                  <a:txBody>
                    <a:bodyPr/>
                    <a:lstStyle/>
                    <a:p>
                      <a:pPr>
                        <a:defRPr sz="950">
                          <a:solidFill>
                            <a:srgbClr val="0F172A"/>
                          </a:solidFill>
                          <a:latin typeface="Arial"/>
                        </a:defRPr>
                      </a:pPr>
                      <a:r>
                        <a:t>Ch 11 (pp. 240–244)</a:t>
                      </a:r>
                    </a:p>
                  </a:txBody>
                  <a:tcPr>
                    <a:solidFill>
                      <a:srgbClr val="FFFFFF"/>
                    </a:solidFill>
                  </a:tcPr>
                </a:tc>
                <a:tc>
                  <a:txBody>
                    <a:bodyPr/>
                    <a:lstStyle/>
                    <a:p>
                      <a:pPr>
                        <a:defRPr sz="950">
                          <a:solidFill>
                            <a:srgbClr val="0F172A"/>
                          </a:solidFill>
                          <a:latin typeface="Arial"/>
                        </a:defRPr>
                      </a:pPr>
                      <a:r>
                        <a:t>Requires calculating second-order Fisher Information matrix inversions with conjugate gradients.</a:t>
                      </a:r>
                    </a:p>
                  </a:txBody>
                  <a:tcPr>
                    <a:solidFill>
                      <a:srgbClr val="FFFFFF"/>
                    </a:solidFill>
                  </a:tcPr>
                </a:tc>
                <a:tc>
                  <a:txBody>
                    <a:bodyPr/>
                    <a:lstStyle/>
                    <a:p>
                      <a:pPr>
                        <a:defRPr sz="950">
                          <a:solidFill>
                            <a:srgbClr val="0F172A"/>
                          </a:solidFill>
                          <a:latin typeface="Arial"/>
                        </a:defRPr>
                      </a:pPr>
                      <a:r>
                        <a:t>PPO achieves trust-region safety using first-order clipping optimized with standard Adam.</a:t>
                      </a:r>
                    </a:p>
                  </a:txBody>
                  <a:tcPr>
                    <a:solidFill>
                      <a:srgbClr val="FFFFFF"/>
                    </a:solidFill>
                  </a:tcPr>
                </a:tc>
              </a:tr>
            </a:tbl>
          </a:graphicData>
        </a:graphic>
      </p:graphicFrame>
      <p:sp>
        <p:nvSpPr>
          <p:cNvPr id="7" name="Rounded Rectangle 6"/>
          <p:cNvSpPr/>
          <p:nvPr/>
        </p:nvSpPr>
        <p:spPr>
          <a:xfrm>
            <a:off x="731520" y="5532120"/>
            <a:ext cx="10728655" cy="914400"/>
          </a:xfrm>
          <a:prstGeom prst="roundRect">
            <a:avLst/>
          </a:prstGeom>
          <a:solidFill>
            <a:srgbClr val="F0FDF4"/>
          </a:solidFill>
          <a:ln w="15240">
            <a:solidFill>
              <a:srgbClr val="BBF7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5605272"/>
            <a:ext cx="10454335" cy="768096"/>
          </a:xfrm>
          <a:prstGeom prst="rect">
            <a:avLst/>
          </a:prstGeom>
          <a:noFill/>
        </p:spPr>
        <p:txBody>
          <a:bodyPr wrap="square" tIns="0" bIns="0" lIns="0" rIns="0">
            <a:spAutoFit/>
          </a:bodyPr>
          <a:lstStyle/>
          <a:p>
            <a:pPr>
              <a:defRPr sz="950" b="1">
                <a:solidFill>
                  <a:srgbClr val="166534"/>
                </a:solidFill>
                <a:latin typeface="Helvetica"/>
              </a:defRPr>
            </a:pPr>
            <a:r>
              <a:t>💡 HOW TO EXPLAIN TO THE PROFESSOR IN 20 SECONDS (ALGORITHM JUSTIFICATION):</a:t>
            </a:r>
          </a:p>
          <a:p>
            <a:pPr>
              <a:defRPr sz="1000">
                <a:solidFill>
                  <a:srgbClr val="0F172A"/>
                </a:solidFill>
                <a:latin typeface="Arial"/>
              </a:defRPr>
            </a:pPr>
            <a:r>
              <a:t>Explain to the professor: 'Grounded in Sudharsan Ravichandiran's book: DQN fails due to the 2^98 action space and replay buffer corruption; REINFORCE has high Monte Carlo variance; TRPO requires expensive second-order Hessian inversions. PPO gives us first-order trust-region clipping with GAE variance reduction.'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solidFill>
              <a:srgbClr val="F8FA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411480"/>
            <a:ext cx="2926080" cy="292608"/>
          </a:xfrm>
          <a:prstGeom prst="roundRect">
            <a:avLst/>
          </a:prstGeom>
          <a:solidFill>
            <a:srgbClr val="EFF6FF"/>
          </a:solidFill>
          <a:ln>
            <a:solidFill>
              <a:srgbClr val="EFF6FF"/>
            </a:solidFill>
          </a:ln>
        </p:spPr>
        <p:style>
          <a:lnRef idx="1">
            <a:schemeClr val="accent1"/>
          </a:lnRef>
          <a:fillRef idx="3">
            <a:schemeClr val="accent1"/>
          </a:fillRef>
          <a:effectRef idx="2">
            <a:schemeClr val="accent1"/>
          </a:effectRef>
          <a:fontRef idx="minor">
            <a:schemeClr val="lt1"/>
          </a:fontRef>
        </p:style>
        <p:txBody>
          <a:bodyPr rtlCol="0" anchor="ctr" tIns="0" bIns="0" lIns="0" rIns="0" wrap="square"/>
          <a:lstStyle/>
          <a:p>
            <a:pPr algn="ctr">
              <a:defRPr sz="950" b="1">
                <a:solidFill>
                  <a:srgbClr val="1D4ED8"/>
                </a:solidFill>
                <a:latin typeface="Helvetica"/>
              </a:defRPr>
            </a:pPr>
            <a:r>
              <a:t>MATHEMATICAL MECHANICS FIGURE</a:t>
            </a:r>
          </a:p>
        </p:txBody>
      </p:sp>
      <p:sp>
        <p:nvSpPr>
          <p:cNvPr id="4" name="TextBox 3"/>
          <p:cNvSpPr txBox="1"/>
          <p:nvPr/>
        </p:nvSpPr>
        <p:spPr>
          <a:xfrm>
            <a:off x="10515600" y="365760"/>
            <a:ext cx="914400" cy="320040"/>
          </a:xfrm>
          <a:prstGeom prst="rect">
            <a:avLst/>
          </a:prstGeom>
          <a:noFill/>
        </p:spPr>
        <p:txBody>
          <a:bodyPr wrap="none">
            <a:spAutoFit/>
          </a:bodyPr>
          <a:lstStyle/>
          <a:p>
            <a:pPr algn="r">
              <a:defRPr sz="1000">
                <a:solidFill>
                  <a:srgbClr val="64748B"/>
                </a:solidFill>
                <a:latin typeface="Arial"/>
              </a:defRPr>
            </a:pPr>
            <a:r>
              <a:t>08 / 18</a:t>
            </a:r>
          </a:p>
        </p:txBody>
      </p:sp>
      <p:sp>
        <p:nvSpPr>
          <p:cNvPr id="5" name="TextBox 4"/>
          <p:cNvSpPr txBox="1"/>
          <p:nvPr/>
        </p:nvSpPr>
        <p:spPr>
          <a:xfrm>
            <a:off x="731520" y="777240"/>
            <a:ext cx="10728655" cy="868680"/>
          </a:xfrm>
          <a:prstGeom prst="rect">
            <a:avLst/>
          </a:prstGeom>
          <a:noFill/>
        </p:spPr>
        <p:txBody>
          <a:bodyPr wrap="square" tIns="0" bIns="0" lIns="0" rIns="0">
            <a:spAutoFit/>
          </a:bodyPr>
          <a:lstStyle/>
          <a:p>
            <a:pPr>
              <a:defRPr sz="2100" b="1">
                <a:solidFill>
                  <a:srgbClr val="0F172A"/>
                </a:solidFill>
                <a:latin typeface="Helvetica"/>
              </a:defRPr>
            </a:pPr>
            <a:r>
              <a:t>Figure 2 Walkthrough: The Clipped Surrogate Objective</a:t>
            </a:r>
          </a:p>
          <a:p>
            <a:pPr>
              <a:defRPr sz="1150">
                <a:solidFill>
                  <a:srgbClr val="64748B"/>
                </a:solidFill>
                <a:latin typeface="Arial"/>
              </a:defRPr>
            </a:pPr>
            <a:r>
              <a:t>Understanding how PPO prevents policy collapse through probability ratio bounding</a:t>
            </a:r>
          </a:p>
        </p:txBody>
      </p:sp>
      <p:sp>
        <p:nvSpPr>
          <p:cNvPr id="6" name="Rounded Rectangle 5"/>
          <p:cNvSpPr/>
          <p:nvPr/>
        </p:nvSpPr>
        <p:spPr>
          <a:xfrm>
            <a:off x="731520" y="1737360"/>
            <a:ext cx="6217920" cy="36576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ig_ppo_clip.png"/>
          <p:cNvPicPr>
            <a:picLocks noChangeAspect="1"/>
          </p:cNvPicPr>
          <p:nvPr/>
        </p:nvPicPr>
        <p:blipFill>
          <a:blip r:embed="rId2"/>
          <a:stretch>
            <a:fillRect/>
          </a:stretch>
        </p:blipFill>
        <p:spPr>
          <a:xfrm>
            <a:off x="868680" y="2011680"/>
            <a:ext cx="5943600" cy="2073349"/>
          </a:xfrm>
          <a:prstGeom prst="rect">
            <a:avLst/>
          </a:prstGeom>
        </p:spPr>
      </p:pic>
      <p:sp>
        <p:nvSpPr>
          <p:cNvPr id="8" name="Rounded Rectangle 7"/>
          <p:cNvSpPr/>
          <p:nvPr/>
        </p:nvSpPr>
        <p:spPr>
          <a:xfrm>
            <a:off x="7132320" y="1737360"/>
            <a:ext cx="4327855" cy="36576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0" y="1874519"/>
            <a:ext cx="3962095" cy="3383280"/>
          </a:xfrm>
          <a:prstGeom prst="rect">
            <a:avLst/>
          </a:prstGeom>
          <a:noFill/>
        </p:spPr>
        <p:txBody>
          <a:bodyPr wrap="square">
            <a:spAutoFit/>
          </a:bodyPr>
          <a:lstStyle/>
          <a:p>
            <a:pPr>
              <a:defRPr sz="1350" b="1">
                <a:solidFill>
                  <a:srgbClr val="2A78D6"/>
                </a:solidFill>
                <a:latin typeface="Helvetica"/>
              </a:defRPr>
            </a:pPr>
            <a:r>
              <a:t>Mathematical Intuition of Figure 2</a:t>
            </a:r>
          </a:p>
          <a:p>
            <a:pPr>
              <a:defRPr sz="950">
                <a:solidFill>
                  <a:srgbClr val="0F172A"/>
                </a:solidFill>
              </a:defRPr>
            </a:pPr>
            <a:r>
              <a:t>The Probability Ratio r(θ): r_t(θ) = π_θ(a_t | s_t) / π_old(a_t | s_t). Measures how much the updated policy differs from the old policy.</a:t>
            </a:r>
          </a:p>
          <a:p>
            <a:pPr>
              <a:defRPr sz="950">
                <a:solidFill>
                  <a:srgbClr val="0F172A"/>
                </a:solidFill>
              </a:defRPr>
            </a:pPr>
            <a:r>
              <a:t>Left Plot (Advantage &gt; 0, Good Action): The dashed line shows unclipped gain. But PPO's blue curve FLATTENS at r = 1 + ε = 1.2. The model gets no extra credit for making an update larger than 20%.</a:t>
            </a:r>
          </a:p>
          <a:p>
            <a:pPr>
              <a:defRPr sz="950">
                <a:solidFill>
                  <a:srgbClr val="0F172A"/>
                </a:solidFill>
              </a:defRPr>
            </a:pPr>
            <a:r>
              <a:t>Right Plot (Advantage &lt; 0, Bad Action): If an action was bad, we want to decrease its probability. But the blue curve flattens at r = 1 - ε = 0.8. It prevents destructive over-penalization.</a:t>
            </a:r>
          </a:p>
          <a:p>
            <a:pPr>
              <a:defRPr sz="950">
                <a:solidFill>
                  <a:srgbClr val="0F172A"/>
                </a:solidFill>
              </a:defRPr>
            </a:pPr>
            <a:r>
              <a:t>The Shaded Corridor [0.8, 1.2]: This is the Trust Region (ε = 0.2). Updates within this corridor are smooth; updates outside are clipped.</a:t>
            </a:r>
          </a:p>
          <a:p>
            <a:pPr>
              <a:defRPr sz="950">
                <a:solidFill>
                  <a:srgbClr val="0F172A"/>
                </a:solidFill>
              </a:defRPr>
            </a:pPr>
            <a:r>
              <a:t>GAE (γ=0.99, λ=0.95): Generalized Advantage Estimation balances immediate reward (low variance) against future traffic delay (low bias).</a:t>
            </a:r>
          </a:p>
        </p:txBody>
      </p:sp>
      <p:sp>
        <p:nvSpPr>
          <p:cNvPr id="10" name="Rounded Rectangle 9"/>
          <p:cNvSpPr/>
          <p:nvPr/>
        </p:nvSpPr>
        <p:spPr>
          <a:xfrm>
            <a:off x="731520" y="5532120"/>
            <a:ext cx="10728655" cy="914400"/>
          </a:xfrm>
          <a:prstGeom prst="roundRect">
            <a:avLst/>
          </a:prstGeom>
          <a:solidFill>
            <a:srgbClr val="F0FDF4"/>
          </a:solidFill>
          <a:ln w="15240">
            <a:solidFill>
              <a:srgbClr val="BBF7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5605272"/>
            <a:ext cx="10454335" cy="768096"/>
          </a:xfrm>
          <a:prstGeom prst="rect">
            <a:avLst/>
          </a:prstGeom>
          <a:noFill/>
        </p:spPr>
        <p:txBody>
          <a:bodyPr wrap="square" tIns="0" bIns="0" lIns="0" rIns="0">
            <a:spAutoFit/>
          </a:bodyPr>
          <a:lstStyle/>
          <a:p>
            <a:pPr>
              <a:defRPr sz="950" b="1">
                <a:solidFill>
                  <a:srgbClr val="166534"/>
                </a:solidFill>
                <a:latin typeface="Helvetica"/>
              </a:defRPr>
            </a:pPr>
            <a:r>
              <a:t>💡 HOW TO EXPLAIN TO THE PROFESSOR IN 20 SECONDS (FIGURE 2 WALKTHROUGH):</a:t>
            </a:r>
          </a:p>
          <a:p>
            <a:pPr>
              <a:defRPr sz="1000">
                <a:solidFill>
                  <a:srgbClr val="0F172A"/>
                </a:solidFill>
                <a:latin typeface="Arial"/>
              </a:defRPr>
            </a:pPr>
            <a:r>
              <a:t>Explain to the professor: 'Point to Figure 2: The x-axis is r (how much the policy changed). On the left, if the action was good, the blue line clips at 1.2 so the agent doesn't get greedy. On the right, if the action was bad, it clips at 0.8 so the policy doesn't collapse. That 20% corridor guarantees training stability.'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solidFill>
              <a:srgbClr val="F8FA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411480"/>
            <a:ext cx="2926080" cy="292608"/>
          </a:xfrm>
          <a:prstGeom prst="roundRect">
            <a:avLst/>
          </a:prstGeom>
          <a:solidFill>
            <a:srgbClr val="EFF6FF"/>
          </a:solidFill>
          <a:ln>
            <a:solidFill>
              <a:srgbClr val="EFF6FF"/>
            </a:solidFill>
          </a:ln>
        </p:spPr>
        <p:style>
          <a:lnRef idx="1">
            <a:schemeClr val="accent1"/>
          </a:lnRef>
          <a:fillRef idx="3">
            <a:schemeClr val="accent1"/>
          </a:fillRef>
          <a:effectRef idx="2">
            <a:schemeClr val="accent1"/>
          </a:effectRef>
          <a:fontRef idx="minor">
            <a:schemeClr val="lt1"/>
          </a:fontRef>
        </p:style>
        <p:txBody>
          <a:bodyPr rtlCol="0" anchor="ctr" tIns="0" bIns="0" lIns="0" rIns="0" wrap="square"/>
          <a:lstStyle/>
          <a:p>
            <a:pPr algn="ctr">
              <a:defRPr sz="950" b="1">
                <a:solidFill>
                  <a:srgbClr val="1D4ED8"/>
                </a:solidFill>
                <a:latin typeface="Helvetica"/>
              </a:defRPr>
            </a:pPr>
            <a:r>
              <a:t>KEY BREAKTHROUGH FIGURE</a:t>
            </a:r>
          </a:p>
        </p:txBody>
      </p:sp>
      <p:sp>
        <p:nvSpPr>
          <p:cNvPr id="4" name="TextBox 3"/>
          <p:cNvSpPr txBox="1"/>
          <p:nvPr/>
        </p:nvSpPr>
        <p:spPr>
          <a:xfrm>
            <a:off x="10515600" y="365760"/>
            <a:ext cx="914400" cy="320040"/>
          </a:xfrm>
          <a:prstGeom prst="rect">
            <a:avLst/>
          </a:prstGeom>
          <a:noFill/>
        </p:spPr>
        <p:txBody>
          <a:bodyPr wrap="none">
            <a:spAutoFit/>
          </a:bodyPr>
          <a:lstStyle/>
          <a:p>
            <a:pPr algn="r">
              <a:defRPr sz="1000">
                <a:solidFill>
                  <a:srgbClr val="64748B"/>
                </a:solidFill>
                <a:latin typeface="Arial"/>
              </a:defRPr>
            </a:pPr>
            <a:r>
              <a:t>09 / 18</a:t>
            </a:r>
          </a:p>
        </p:txBody>
      </p:sp>
      <p:sp>
        <p:nvSpPr>
          <p:cNvPr id="5" name="TextBox 4"/>
          <p:cNvSpPr txBox="1"/>
          <p:nvPr/>
        </p:nvSpPr>
        <p:spPr>
          <a:xfrm>
            <a:off x="731520" y="777240"/>
            <a:ext cx="10728655" cy="868680"/>
          </a:xfrm>
          <a:prstGeom prst="rect">
            <a:avLst/>
          </a:prstGeom>
          <a:noFill/>
        </p:spPr>
        <p:txBody>
          <a:bodyPr wrap="square" tIns="0" bIns="0" lIns="0" rIns="0">
            <a:spAutoFit/>
          </a:bodyPr>
          <a:lstStyle/>
          <a:p>
            <a:pPr>
              <a:defRPr sz="2100" b="1">
                <a:solidFill>
                  <a:srgbClr val="0F172A"/>
                </a:solidFill>
                <a:latin typeface="Helvetica"/>
              </a:defRPr>
            </a:pPr>
            <a:r>
              <a:t>Figure 3 Walkthrough: Split Gradient Clipping Fix</a:t>
            </a:r>
          </a:p>
          <a:p>
            <a:pPr>
              <a:defRPr sz="1150">
                <a:solidFill>
                  <a:srgbClr val="64748B"/>
                </a:solidFill>
                <a:latin typeface="Arial"/>
              </a:defRPr>
            </a:pPr>
            <a:r>
              <a:t>How decoupling Actor and Critic gradient norms solved the hidden 7,600x suppression bug</a:t>
            </a:r>
          </a:p>
        </p:txBody>
      </p:sp>
      <p:sp>
        <p:nvSpPr>
          <p:cNvPr id="6" name="Rounded Rectangle 5"/>
          <p:cNvSpPr/>
          <p:nvPr/>
        </p:nvSpPr>
        <p:spPr>
          <a:xfrm>
            <a:off x="731520" y="1737360"/>
            <a:ext cx="6217920" cy="36576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ig_gradnorm.png"/>
          <p:cNvPicPr>
            <a:picLocks noChangeAspect="1"/>
          </p:cNvPicPr>
          <p:nvPr/>
        </p:nvPicPr>
        <p:blipFill>
          <a:blip r:embed="rId2"/>
          <a:stretch>
            <a:fillRect/>
          </a:stretch>
        </p:blipFill>
        <p:spPr>
          <a:xfrm>
            <a:off x="868680" y="2148840"/>
            <a:ext cx="5943600" cy="2321719"/>
          </a:xfrm>
          <a:prstGeom prst="rect">
            <a:avLst/>
          </a:prstGeom>
        </p:spPr>
      </p:pic>
      <p:sp>
        <p:nvSpPr>
          <p:cNvPr id="8" name="Rounded Rectangle 7"/>
          <p:cNvSpPr/>
          <p:nvPr/>
        </p:nvSpPr>
        <p:spPr>
          <a:xfrm>
            <a:off x="7132320" y="1737360"/>
            <a:ext cx="4327855" cy="36576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0" y="1874519"/>
            <a:ext cx="3962095" cy="3383280"/>
          </a:xfrm>
          <a:prstGeom prst="rect">
            <a:avLst/>
          </a:prstGeom>
          <a:noFill/>
        </p:spPr>
        <p:txBody>
          <a:bodyPr wrap="square">
            <a:spAutoFit/>
          </a:bodyPr>
          <a:lstStyle/>
          <a:p>
            <a:pPr>
              <a:defRPr sz="1350" b="1">
                <a:solidFill>
                  <a:srgbClr val="EB6834"/>
                </a:solidFill>
                <a:latin typeface="Helvetica"/>
              </a:defRPr>
            </a:pPr>
            <a:r>
              <a:t>The 'Aha!' Engineering Breakthrough</a:t>
            </a:r>
          </a:p>
          <a:p>
            <a:pPr>
              <a:defRPr sz="950">
                <a:solidFill>
                  <a:srgbClr val="0F172A"/>
                </a:solidFill>
              </a:defRPr>
            </a:pPr>
            <a:r>
              <a:t>The Initial Mystery: Early in the project, standard PPO failed against SUMO actuated. Policy entropy remained frozen at ~90%, and lights switched almost randomly.</a:t>
            </a:r>
          </a:p>
          <a:p>
            <a:pPr>
              <a:defRPr sz="950">
                <a:solidFill>
                  <a:srgbClr val="0F172A"/>
                </a:solidFill>
              </a:defRPr>
            </a:pPr>
            <a:r>
              <a:t>The Discovery (Figure 3): We probed the raw gradients: Critic gradient norm was ~3,830 (due to large early value errors), while Actor gradient norm was only ~0.19!</a:t>
            </a:r>
          </a:p>
          <a:p>
            <a:pPr>
              <a:defRPr sz="950">
                <a:solidFill>
                  <a:srgbClr val="0F172A"/>
                </a:solidFill>
              </a:defRPr>
            </a:pPr>
            <a:r>
              <a:t>The Joint Clipping Bug: Standard Stable-Baselines3 clips all parameters jointly: Scale = 0.5 / sqrt(3830^2 + 0.19^2) ≈ 0.5 / 3830 ≈ 1.3 × 10^-4.</a:t>
            </a:r>
          </a:p>
          <a:p>
            <a:pPr>
              <a:defRPr sz="950">
                <a:solidFill>
                  <a:srgbClr val="0F172A"/>
                </a:solidFill>
              </a:defRPr>
            </a:pPr>
            <a:r>
              <a:t>The Catastrophe: The actor's gradient (0.19) was multiplied by 1.3 × 10^-4, shrinking to 0.000025—below Adam optimizer's epsilon threshold (10^-8)! The actor was effectively turned off!</a:t>
            </a:r>
          </a:p>
          <a:p>
            <a:pPr>
              <a:defRPr sz="950">
                <a:solidFill>
                  <a:srgbClr val="0F172A"/>
                </a:solidFill>
              </a:defRPr>
            </a:pPr>
            <a:r>
              <a:t>Our Fix (split_clip.py): We decoupled gradient clipping: Actor clipped at 0.5; Critic clipped at 0.5 independently.</a:t>
            </a:r>
          </a:p>
          <a:p>
            <a:pPr>
              <a:defRPr sz="950">
                <a:solidFill>
                  <a:srgbClr val="0F172A"/>
                </a:solidFill>
              </a:defRPr>
            </a:pPr>
            <a:r>
              <a:t>The Result: Policy learning accelerated by 10x immediately, and CityMind began decisively beating the civil engineering baseline.</a:t>
            </a:r>
          </a:p>
        </p:txBody>
      </p:sp>
      <p:sp>
        <p:nvSpPr>
          <p:cNvPr id="10" name="Rounded Rectangle 9"/>
          <p:cNvSpPr/>
          <p:nvPr/>
        </p:nvSpPr>
        <p:spPr>
          <a:xfrm>
            <a:off x="731520" y="5532120"/>
            <a:ext cx="10728655" cy="914400"/>
          </a:xfrm>
          <a:prstGeom prst="roundRect">
            <a:avLst/>
          </a:prstGeom>
          <a:solidFill>
            <a:srgbClr val="F0FDF4"/>
          </a:solidFill>
          <a:ln w="15240">
            <a:solidFill>
              <a:srgbClr val="BBF7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5605272"/>
            <a:ext cx="10454335" cy="768096"/>
          </a:xfrm>
          <a:prstGeom prst="rect">
            <a:avLst/>
          </a:prstGeom>
          <a:noFill/>
        </p:spPr>
        <p:txBody>
          <a:bodyPr wrap="square" tIns="0" bIns="0" lIns="0" rIns="0">
            <a:spAutoFit/>
          </a:bodyPr>
          <a:lstStyle/>
          <a:p>
            <a:pPr>
              <a:defRPr sz="950" b="1">
                <a:solidFill>
                  <a:srgbClr val="166534"/>
                </a:solidFill>
                <a:latin typeface="Helvetica"/>
              </a:defRPr>
            </a:pPr>
            <a:r>
              <a:t>💡 HOW TO EXPLAIN TO THE PROFESSOR IN 20 SECONDS (FIGURE 3 WALKTHROUGH):</a:t>
            </a:r>
          </a:p>
          <a:p>
            <a:pPr>
              <a:defRPr sz="1000">
                <a:solidFill>
                  <a:srgbClr val="0F172A"/>
                </a:solidFill>
                <a:latin typeface="Arial"/>
              </a:defRPr>
            </a:pPr>
            <a:r>
              <a:t>Explain to the professor: 'Point to Figure 3: Look at the top bar—the critic gradient was 3,830. The actor gradient at the bottom was only 0.19. Standard libraries clip them together, which scaled down the actor by 7,600 times and froze the policy. By clipping them independently, we solved the bug and unlocked 10x faster learning.'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solidFill>
              <a:srgbClr val="F8FA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411480"/>
            <a:ext cx="2926080" cy="292608"/>
          </a:xfrm>
          <a:prstGeom prst="roundRect">
            <a:avLst/>
          </a:prstGeom>
          <a:solidFill>
            <a:srgbClr val="EFF6FF"/>
          </a:solidFill>
          <a:ln>
            <a:solidFill>
              <a:srgbClr val="EFF6FF"/>
            </a:solidFill>
          </a:ln>
        </p:spPr>
        <p:style>
          <a:lnRef idx="1">
            <a:schemeClr val="accent1"/>
          </a:lnRef>
          <a:fillRef idx="3">
            <a:schemeClr val="accent1"/>
          </a:fillRef>
          <a:effectRef idx="2">
            <a:schemeClr val="accent1"/>
          </a:effectRef>
          <a:fontRef idx="minor">
            <a:schemeClr val="lt1"/>
          </a:fontRef>
        </p:style>
        <p:txBody>
          <a:bodyPr rtlCol="0" anchor="ctr" tIns="0" bIns="0" lIns="0" rIns="0" wrap="square"/>
          <a:lstStyle/>
          <a:p>
            <a:pPr algn="ctr">
              <a:defRPr sz="950" b="1">
                <a:solidFill>
                  <a:srgbClr val="1D4ED8"/>
                </a:solidFill>
                <a:latin typeface="Helvetica"/>
              </a:defRPr>
            </a:pPr>
            <a:r>
              <a:t>MATHEMATICAL &amp; HYPERPARAMETER RIGOR</a:t>
            </a:r>
          </a:p>
        </p:txBody>
      </p:sp>
      <p:sp>
        <p:nvSpPr>
          <p:cNvPr id="4" name="TextBox 3"/>
          <p:cNvSpPr txBox="1"/>
          <p:nvPr/>
        </p:nvSpPr>
        <p:spPr>
          <a:xfrm>
            <a:off x="10515600" y="365760"/>
            <a:ext cx="914400" cy="320040"/>
          </a:xfrm>
          <a:prstGeom prst="rect">
            <a:avLst/>
          </a:prstGeom>
          <a:noFill/>
        </p:spPr>
        <p:txBody>
          <a:bodyPr wrap="none">
            <a:spAutoFit/>
          </a:bodyPr>
          <a:lstStyle/>
          <a:p>
            <a:pPr algn="r">
              <a:defRPr sz="1000">
                <a:solidFill>
                  <a:srgbClr val="64748B"/>
                </a:solidFill>
                <a:latin typeface="Arial"/>
              </a:defRPr>
            </a:pPr>
            <a:r>
              <a:t>10 / 18</a:t>
            </a:r>
          </a:p>
        </p:txBody>
      </p:sp>
      <p:sp>
        <p:nvSpPr>
          <p:cNvPr id="5" name="TextBox 4"/>
          <p:cNvSpPr txBox="1"/>
          <p:nvPr/>
        </p:nvSpPr>
        <p:spPr>
          <a:xfrm>
            <a:off x="731520" y="777240"/>
            <a:ext cx="10728655" cy="868680"/>
          </a:xfrm>
          <a:prstGeom prst="rect">
            <a:avLst/>
          </a:prstGeom>
          <a:noFill/>
        </p:spPr>
        <p:txBody>
          <a:bodyPr wrap="square" tIns="0" bIns="0" lIns="0" rIns="0">
            <a:spAutoFit/>
          </a:bodyPr>
          <a:lstStyle/>
          <a:p>
            <a:pPr>
              <a:defRPr sz="2100" b="1">
                <a:solidFill>
                  <a:srgbClr val="0F172A"/>
                </a:solidFill>
                <a:latin typeface="Helvetica"/>
              </a:defRPr>
            </a:pPr>
            <a:r>
              <a:t>Figure Walkthrough: IPPO Hyperparameters &amp; Architecture</a:t>
            </a:r>
          </a:p>
          <a:p>
            <a:pPr>
              <a:defRPr sz="1150">
                <a:solidFill>
                  <a:srgbClr val="64748B"/>
                </a:solidFill>
                <a:latin typeface="Arial"/>
              </a:defRPr>
            </a:pPr>
            <a:r>
              <a:t>Rigorous parameter selection, rollout scale (588 agents/tick), and mathematical loss formulation</a:t>
            </a:r>
          </a:p>
        </p:txBody>
      </p:sp>
      <p:sp>
        <p:nvSpPr>
          <p:cNvPr id="6" name="Rounded Rectangle 5"/>
          <p:cNvSpPr/>
          <p:nvPr/>
        </p:nvSpPr>
        <p:spPr>
          <a:xfrm>
            <a:off x="731520" y="1691640"/>
            <a:ext cx="10728655" cy="41605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ppo_hyperparameters_guide.png"/>
          <p:cNvPicPr>
            <a:picLocks noChangeAspect="1"/>
          </p:cNvPicPr>
          <p:nvPr/>
        </p:nvPicPr>
        <p:blipFill>
          <a:blip r:embed="rId2"/>
          <a:stretch>
            <a:fillRect/>
          </a:stretch>
        </p:blipFill>
        <p:spPr>
          <a:xfrm>
            <a:off x="777240" y="1719072"/>
            <a:ext cx="10637215" cy="6869868"/>
          </a:xfrm>
          <a:prstGeom prst="rect">
            <a:avLst/>
          </a:prstGeom>
        </p:spPr>
      </p:pic>
      <p:sp>
        <p:nvSpPr>
          <p:cNvPr id="8" name="Rounded Rectangle 7"/>
          <p:cNvSpPr/>
          <p:nvPr/>
        </p:nvSpPr>
        <p:spPr>
          <a:xfrm>
            <a:off x="731520" y="5897880"/>
            <a:ext cx="10728655" cy="777240"/>
          </a:xfrm>
          <a:prstGeom prst="roundRect">
            <a:avLst/>
          </a:prstGeom>
          <a:solidFill>
            <a:srgbClr val="F0FDF4"/>
          </a:solidFill>
          <a:ln w="15240">
            <a:solidFill>
              <a:srgbClr val="BBF7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5971032"/>
            <a:ext cx="10454335" cy="630936"/>
          </a:xfrm>
          <a:prstGeom prst="rect">
            <a:avLst/>
          </a:prstGeom>
          <a:noFill/>
        </p:spPr>
        <p:txBody>
          <a:bodyPr wrap="square" tIns="0" bIns="0" lIns="0" rIns="0">
            <a:spAutoFit/>
          </a:bodyPr>
          <a:lstStyle/>
          <a:p>
            <a:pPr>
              <a:defRPr sz="950" b="1">
                <a:solidFill>
                  <a:srgbClr val="166534"/>
                </a:solidFill>
                <a:latin typeface="Helvetica"/>
              </a:defRPr>
            </a:pPr>
            <a:r>
              <a:t>💡 HOW TO EXPLAIN TO THE PROFESSOR IN 20 SECONDS (HYPERPARAMETER JUSTIFICATION SCRIPT):</a:t>
            </a:r>
          </a:p>
          <a:p>
            <a:pPr>
              <a:defRPr sz="1000">
                <a:solidFill>
                  <a:srgbClr val="0F172A"/>
                </a:solidFill>
                <a:latin typeface="Arial"/>
              </a:defRPr>
            </a:pPr>
            <a:r>
              <a:t>Explain to the professor: 'Every hyperparameter is mathematically grounded: γ=0.99 ensures an 8.3-minute horizon for green waves; ε=0.2 bounds policy shift to 20%; 6 parallel environments collect 105,840 transitions per update; and Split Gradient Clipping isolates actor gradients from critic value error.'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solidFill>
              <a:srgbClr val="F8FA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411480"/>
            <a:ext cx="2926080" cy="292608"/>
          </a:xfrm>
          <a:prstGeom prst="roundRect">
            <a:avLst/>
          </a:prstGeom>
          <a:solidFill>
            <a:srgbClr val="EFF6FF"/>
          </a:solidFill>
          <a:ln>
            <a:solidFill>
              <a:srgbClr val="EFF6FF"/>
            </a:solidFill>
          </a:ln>
        </p:spPr>
        <p:style>
          <a:lnRef idx="1">
            <a:schemeClr val="accent1"/>
          </a:lnRef>
          <a:fillRef idx="3">
            <a:schemeClr val="accent1"/>
          </a:fillRef>
          <a:effectRef idx="2">
            <a:schemeClr val="accent1"/>
          </a:effectRef>
          <a:fontRef idx="minor">
            <a:schemeClr val="lt1"/>
          </a:fontRef>
        </p:style>
        <p:txBody>
          <a:bodyPr rtlCol="0" anchor="ctr" tIns="0" bIns="0" lIns="0" rIns="0" wrap="square"/>
          <a:lstStyle/>
          <a:p>
            <a:pPr algn="ctr">
              <a:defRPr sz="950" b="1">
                <a:solidFill>
                  <a:srgbClr val="1D4ED8"/>
                </a:solidFill>
                <a:latin typeface="Helvetica"/>
              </a:defRPr>
            </a:pPr>
            <a:r>
              <a:t>ENVIRONMENT SPECIFICATION</a:t>
            </a:r>
          </a:p>
        </p:txBody>
      </p:sp>
      <p:sp>
        <p:nvSpPr>
          <p:cNvPr id="4" name="TextBox 3"/>
          <p:cNvSpPr txBox="1"/>
          <p:nvPr/>
        </p:nvSpPr>
        <p:spPr>
          <a:xfrm>
            <a:off x="10515600" y="365760"/>
            <a:ext cx="914400" cy="320040"/>
          </a:xfrm>
          <a:prstGeom prst="rect">
            <a:avLst/>
          </a:prstGeom>
          <a:noFill/>
        </p:spPr>
        <p:txBody>
          <a:bodyPr wrap="none">
            <a:spAutoFit/>
          </a:bodyPr>
          <a:lstStyle/>
          <a:p>
            <a:pPr algn="r">
              <a:defRPr sz="1000">
                <a:solidFill>
                  <a:srgbClr val="64748B"/>
                </a:solidFill>
                <a:latin typeface="Arial"/>
              </a:defRPr>
            </a:pPr>
            <a:r>
              <a:t>11 / 18</a:t>
            </a:r>
          </a:p>
        </p:txBody>
      </p:sp>
      <p:sp>
        <p:nvSpPr>
          <p:cNvPr id="5" name="TextBox 4"/>
          <p:cNvSpPr txBox="1"/>
          <p:nvPr/>
        </p:nvSpPr>
        <p:spPr>
          <a:xfrm>
            <a:off x="731520" y="777240"/>
            <a:ext cx="10728655" cy="868680"/>
          </a:xfrm>
          <a:prstGeom prst="rect">
            <a:avLst/>
          </a:prstGeom>
          <a:noFill/>
        </p:spPr>
        <p:txBody>
          <a:bodyPr wrap="square" tIns="0" bIns="0" lIns="0" rIns="0">
            <a:spAutoFit/>
          </a:bodyPr>
          <a:lstStyle/>
          <a:p>
            <a:pPr>
              <a:defRPr sz="2100" b="1">
                <a:solidFill>
                  <a:srgbClr val="0F172A"/>
                </a:solidFill>
                <a:latin typeface="Helvetica"/>
              </a:defRPr>
            </a:pPr>
            <a:r>
              <a:t>22-Dim Observation Space, Action Space &amp; Safety Layer</a:t>
            </a:r>
          </a:p>
          <a:p>
            <a:pPr>
              <a:defRPr sz="1150">
                <a:solidFill>
                  <a:srgbClr val="64748B"/>
                </a:solidFill>
                <a:latin typeface="Arial"/>
              </a:defRPr>
            </a:pPr>
            <a:r>
              <a:t>How 22 numbers describe any intersection geometry and how safety rules prevent crashes</a:t>
            </a:r>
          </a:p>
        </p:txBody>
      </p:sp>
      <p:sp>
        <p:nvSpPr>
          <p:cNvPr id="6" name="Rounded Rectangle 5"/>
          <p:cNvSpPr/>
          <p:nvPr/>
        </p:nvSpPr>
        <p:spPr>
          <a:xfrm>
            <a:off x="731520" y="1737360"/>
            <a:ext cx="3328416" cy="361188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01952"/>
            <a:ext cx="2962656" cy="3282696"/>
          </a:xfrm>
          <a:prstGeom prst="rect">
            <a:avLst/>
          </a:prstGeom>
          <a:noFill/>
        </p:spPr>
        <p:txBody>
          <a:bodyPr wrap="square">
            <a:spAutoFit/>
          </a:bodyPr>
          <a:lstStyle/>
          <a:p>
            <a:pPr>
              <a:defRPr sz="1300" b="1">
                <a:solidFill>
                  <a:srgbClr val="2A78D6"/>
                </a:solidFill>
                <a:latin typeface="Helvetica"/>
              </a:defRPr>
            </a:pPr>
            <a:r>
              <a:t>1. Observation Vector (22-Dim) 📊</a:t>
            </a:r>
          </a:p>
          <a:p>
            <a:pPr>
              <a:defRPr sz="900">
                <a:solidFill>
                  <a:srgbClr val="0F172A"/>
                </a:solidFill>
              </a:defRPr>
            </a:pPr>
            <a:r>
              <a:t>• Normalized to [-1, 1] for stable NN input.</a:t>
            </a:r>
          </a:p>
          <a:p>
            <a:pPr>
              <a:defRPr sz="900">
                <a:solidFill>
                  <a:srgbClr val="0F172A"/>
                </a:solidFill>
              </a:defRPr>
            </a:pPr>
            <a:r>
              <a:t>• 0–5: Active green phase (one-hot vector across up to 6 green phases).</a:t>
            </a:r>
          </a:p>
          <a:p>
            <a:pPr>
              <a:defRPr sz="900">
                <a:solidFill>
                  <a:srgbClr val="0F172A"/>
                </a:solidFill>
              </a:defRPr>
            </a:pPr>
            <a:r>
              <a:t>• 6: In-transition flag (1.0 during yellow or red clearance).</a:t>
            </a:r>
          </a:p>
          <a:p>
            <a:pPr>
              <a:defRPr sz="900">
                <a:solidFill>
                  <a:srgbClr val="0F172A"/>
                </a:solidFill>
              </a:defRPr>
            </a:pPr>
            <a:r>
              <a:t>• 7–8: Elapsed green duration relative to authored Min Green and Max Green.</a:t>
            </a:r>
          </a:p>
          <a:p>
            <a:pPr>
              <a:defRPr sz="900">
                <a:solidFill>
                  <a:srgbClr val="0F172A"/>
                </a:solidFill>
              </a:defRPr>
            </a:pPr>
            <a:r>
              <a:t>• 9–14: Varaiya pressure per green movement (Upstream + Feeders - Downstream).</a:t>
            </a:r>
          </a:p>
          <a:p>
            <a:pPr>
              <a:defRPr sz="900">
                <a:solidFill>
                  <a:srgbClr val="0F172A"/>
                </a:solidFill>
              </a:defRPr>
            </a:pPr>
            <a:r>
              <a:t>• 15: Max queue on worst approach (300m feeders).</a:t>
            </a:r>
          </a:p>
          <a:p>
            <a:pPr>
              <a:defRPr sz="900">
                <a:solidFill>
                  <a:srgbClr val="0F172A"/>
                </a:solidFill>
              </a:defRPr>
            </a:pPr>
            <a:r>
              <a:t>• 16: Pending outside-network vehicles waiting to enter.</a:t>
            </a:r>
          </a:p>
          <a:p>
            <a:pPr>
              <a:defRPr sz="900">
                <a:solidFill>
                  <a:srgbClr val="0F172A"/>
                </a:solidFill>
              </a:defRPr>
            </a:pPr>
            <a:r>
              <a:t>• 17: Number of valid green phases / 6.</a:t>
            </a:r>
          </a:p>
          <a:p>
            <a:pPr>
              <a:defRPr sz="900">
                <a:solidFill>
                  <a:srgbClr val="0F172A"/>
                </a:solidFill>
              </a:defRPr>
            </a:pPr>
            <a:r>
              <a:t>• 18–21: Neighbor queues (2 upstream, 2 downstream junctions).</a:t>
            </a:r>
          </a:p>
        </p:txBody>
      </p:sp>
      <p:sp>
        <p:nvSpPr>
          <p:cNvPr id="8" name="Rounded Rectangle 7"/>
          <p:cNvSpPr/>
          <p:nvPr/>
        </p:nvSpPr>
        <p:spPr>
          <a:xfrm>
            <a:off x="4425696" y="1737360"/>
            <a:ext cx="3328416" cy="361188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608576" y="1901952"/>
            <a:ext cx="2962656" cy="3282696"/>
          </a:xfrm>
          <a:prstGeom prst="rect">
            <a:avLst/>
          </a:prstGeom>
          <a:noFill/>
        </p:spPr>
        <p:txBody>
          <a:bodyPr wrap="square">
            <a:spAutoFit/>
          </a:bodyPr>
          <a:lstStyle/>
          <a:p>
            <a:pPr>
              <a:defRPr sz="1300" b="1">
                <a:solidFill>
                  <a:srgbClr val="10B981"/>
                </a:solidFill>
                <a:latin typeface="Helvetica"/>
              </a:defRPr>
            </a:pPr>
            <a:r>
              <a:t>2. Action Space: Discrete(2) 🚦</a:t>
            </a:r>
          </a:p>
          <a:p>
            <a:pPr>
              <a:defRPr sz="950">
                <a:solidFill>
                  <a:srgbClr val="0F172A"/>
                </a:solidFill>
              </a:defRPr>
            </a:pPr>
            <a:r>
              <a:t>• Action 0: KEEP current green phase.</a:t>
            </a:r>
          </a:p>
          <a:p>
            <a:pPr>
              <a:defRPr sz="950">
                <a:solidFill>
                  <a:srgbClr val="0F172A"/>
                </a:solidFill>
              </a:defRPr>
            </a:pPr>
            <a:r>
              <a:t>• Action 1: ADVANCE to next sequential green phase.</a:t>
            </a:r>
          </a:p>
          <a:p>
            <a:pPr>
              <a:defRPr sz="950">
                <a:solidFill>
                  <a:srgbClr val="0F172A"/>
                </a:solidFill>
              </a:defRPr>
            </a:pPr>
            <a:r>
              <a:t>• Why Discrete(2)? Avoids combinatorial phase selection bugs.</a:t>
            </a:r>
          </a:p>
          <a:p>
            <a:pPr>
              <a:defRPr sz="950">
                <a:solidFill>
                  <a:srgbClr val="0F172A"/>
                </a:solidFill>
              </a:defRPr>
            </a:pPr>
            <a:r>
              <a:t>• Spatial Invariance: A 2-phase pedestrian crossing and a 6-phase major boulevard use the exact same action contract.</a:t>
            </a:r>
          </a:p>
          <a:p>
            <a:pPr>
              <a:defRPr sz="950">
                <a:solidFill>
                  <a:srgbClr val="0F172A"/>
                </a:solidFill>
              </a:defRPr>
            </a:pPr>
            <a:r>
              <a:t>• Safety Decoupling: The neural network never directly commands raw light colors. It expresses intent ('keep' or 'advance'), which is evaluated by the SafetyLayer.</a:t>
            </a:r>
          </a:p>
        </p:txBody>
      </p:sp>
      <p:sp>
        <p:nvSpPr>
          <p:cNvPr id="10" name="Rounded Rectangle 9"/>
          <p:cNvSpPr/>
          <p:nvPr/>
        </p:nvSpPr>
        <p:spPr>
          <a:xfrm>
            <a:off x="8119872" y="1737360"/>
            <a:ext cx="3328416" cy="361188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302752" y="1901952"/>
            <a:ext cx="2962656" cy="3282696"/>
          </a:xfrm>
          <a:prstGeom prst="rect">
            <a:avLst/>
          </a:prstGeom>
          <a:noFill/>
        </p:spPr>
        <p:txBody>
          <a:bodyPr wrap="square">
            <a:spAutoFit/>
          </a:bodyPr>
          <a:lstStyle/>
          <a:p>
            <a:pPr>
              <a:defRPr sz="1300" b="1">
                <a:solidFill>
                  <a:srgbClr val="EB6834"/>
                </a:solidFill>
                <a:latin typeface="Helvetica"/>
              </a:defRPr>
            </a:pPr>
            <a:r>
              <a:t>3. Deterministic Safety Layer 🛡️</a:t>
            </a:r>
          </a:p>
          <a:p>
            <a:pPr>
              <a:defRPr sz="900">
                <a:solidFill>
                  <a:srgbClr val="0F172A"/>
                </a:solidFill>
              </a:defRPr>
            </a:pPr>
            <a:r>
              <a:t>• Implemented in src/environment/safety.py as a deterministic finite-state machine.</a:t>
            </a:r>
          </a:p>
          <a:p>
            <a:pPr>
              <a:defRPr sz="900">
                <a:solidFill>
                  <a:srgbClr val="0F172A"/>
                </a:solidFill>
              </a:defRPr>
            </a:pPr>
            <a:r>
              <a:t>• Minimum Green Enforcement: Even if agent chooses 'advance', phase cannot switch until minimum green (10s) expires. Prevents light flickering.</a:t>
            </a:r>
          </a:p>
          <a:p>
            <a:pPr>
              <a:defRPr sz="900">
                <a:solidFill>
                  <a:srgbClr val="0F172A"/>
                </a:solidFill>
              </a:defRPr>
            </a:pPr>
            <a:r>
              <a:t>• Maximum Green Cap: Forces phase advance if maximum green (60s) is exceeded. Prevents lane starvation.</a:t>
            </a:r>
          </a:p>
          <a:p>
            <a:pPr>
              <a:defRPr sz="900">
                <a:solidFill>
                  <a:srgbClr val="0F172A"/>
                </a:solidFill>
              </a:defRPr>
            </a:pPr>
            <a:r>
              <a:t>• Mandatory Clearance Phases: Yellow (3-4s) and all-red clearance intervals are strictly executed in hardware before green switches.</a:t>
            </a:r>
          </a:p>
          <a:p>
            <a:pPr>
              <a:defRPr sz="900">
                <a:solidFill>
                  <a:srgbClr val="0F172A"/>
                </a:solidFill>
              </a:defRPr>
            </a:pPr>
            <a:r>
              <a:t>• Zero Collision Risk: The agent physically cannot cause an accident in the simulator.</a:t>
            </a:r>
          </a:p>
        </p:txBody>
      </p:sp>
      <p:sp>
        <p:nvSpPr>
          <p:cNvPr id="12" name="Rounded Rectangle 11"/>
          <p:cNvSpPr/>
          <p:nvPr/>
        </p:nvSpPr>
        <p:spPr>
          <a:xfrm>
            <a:off x="731520" y="5532120"/>
            <a:ext cx="10728655" cy="914400"/>
          </a:xfrm>
          <a:prstGeom prst="roundRect">
            <a:avLst/>
          </a:prstGeom>
          <a:solidFill>
            <a:srgbClr val="F0FDF4"/>
          </a:solidFill>
          <a:ln w="15240">
            <a:solidFill>
              <a:srgbClr val="BBF7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8680" y="5605272"/>
            <a:ext cx="10454335" cy="768096"/>
          </a:xfrm>
          <a:prstGeom prst="rect">
            <a:avLst/>
          </a:prstGeom>
          <a:noFill/>
        </p:spPr>
        <p:txBody>
          <a:bodyPr wrap="square" tIns="0" bIns="0" lIns="0" rIns="0">
            <a:spAutoFit/>
          </a:bodyPr>
          <a:lstStyle/>
          <a:p>
            <a:pPr>
              <a:defRPr sz="950" b="1">
                <a:solidFill>
                  <a:srgbClr val="166534"/>
                </a:solidFill>
                <a:latin typeface="Helvetica"/>
              </a:defRPr>
            </a:pPr>
            <a:r>
              <a:t>💡 HOW TO EXPLAIN TO THE PROFESSOR IN 20 SECONDS (STATE &amp; SAFETY CONTRACT):</a:t>
            </a:r>
          </a:p>
          <a:p>
            <a:pPr>
              <a:defRPr sz="1000">
                <a:solidFill>
                  <a:srgbClr val="0F172A"/>
                </a:solidFill>
                <a:latin typeface="Arial"/>
              </a:defRPr>
            </a:pPr>
            <a:r>
              <a:t>Explain to the professor: 'Because junctions have different numbers of lanes (4 to 19), feeding raw lanes into a neural network is impossible. We engineered a compact 22-dimensional feature vector that works across all 98 signals, and backed it with a deterministic safety layer that enforces clearance intervals.'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solidFill>
              <a:srgbClr val="F8FA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411480"/>
            <a:ext cx="2926080" cy="292608"/>
          </a:xfrm>
          <a:prstGeom prst="roundRect">
            <a:avLst/>
          </a:prstGeom>
          <a:solidFill>
            <a:srgbClr val="EFF6FF"/>
          </a:solidFill>
          <a:ln>
            <a:solidFill>
              <a:srgbClr val="EFF6FF"/>
            </a:solidFill>
          </a:ln>
        </p:spPr>
        <p:style>
          <a:lnRef idx="1">
            <a:schemeClr val="accent1"/>
          </a:lnRef>
          <a:fillRef idx="3">
            <a:schemeClr val="accent1"/>
          </a:fillRef>
          <a:effectRef idx="2">
            <a:schemeClr val="accent1"/>
          </a:effectRef>
          <a:fontRef idx="minor">
            <a:schemeClr val="lt1"/>
          </a:fontRef>
        </p:style>
        <p:txBody>
          <a:bodyPr rtlCol="0" anchor="ctr" tIns="0" bIns="0" lIns="0" rIns="0" wrap="square"/>
          <a:lstStyle/>
          <a:p>
            <a:pPr algn="ctr">
              <a:defRPr sz="950" b="1">
                <a:solidFill>
                  <a:srgbClr val="1D4ED8"/>
                </a:solidFill>
                <a:latin typeface="Helvetica"/>
              </a:defRPr>
            </a:pPr>
            <a:r>
              <a:t>CIVIL ENGINEERING REALISM</a:t>
            </a:r>
          </a:p>
        </p:txBody>
      </p:sp>
      <p:sp>
        <p:nvSpPr>
          <p:cNvPr id="4" name="TextBox 3"/>
          <p:cNvSpPr txBox="1"/>
          <p:nvPr/>
        </p:nvSpPr>
        <p:spPr>
          <a:xfrm>
            <a:off x="10515600" y="365760"/>
            <a:ext cx="914400" cy="320040"/>
          </a:xfrm>
          <a:prstGeom prst="rect">
            <a:avLst/>
          </a:prstGeom>
          <a:noFill/>
        </p:spPr>
        <p:txBody>
          <a:bodyPr wrap="none">
            <a:spAutoFit/>
          </a:bodyPr>
          <a:lstStyle/>
          <a:p>
            <a:pPr algn="r">
              <a:defRPr sz="1000">
                <a:solidFill>
                  <a:srgbClr val="64748B"/>
                </a:solidFill>
                <a:latin typeface="Arial"/>
              </a:defRPr>
            </a:pPr>
            <a:r>
              <a:t>12 / 18</a:t>
            </a:r>
          </a:p>
        </p:txBody>
      </p:sp>
      <p:sp>
        <p:nvSpPr>
          <p:cNvPr id="5" name="TextBox 4"/>
          <p:cNvSpPr txBox="1"/>
          <p:nvPr/>
        </p:nvSpPr>
        <p:spPr>
          <a:xfrm>
            <a:off x="731520" y="777240"/>
            <a:ext cx="10728655" cy="868680"/>
          </a:xfrm>
          <a:prstGeom prst="rect">
            <a:avLst/>
          </a:prstGeom>
          <a:noFill/>
        </p:spPr>
        <p:txBody>
          <a:bodyPr wrap="square" tIns="0" bIns="0" lIns="0" rIns="0">
            <a:spAutoFit/>
          </a:bodyPr>
          <a:lstStyle/>
          <a:p>
            <a:pPr>
              <a:defRPr sz="2100" b="1">
                <a:solidFill>
                  <a:srgbClr val="0F172A"/>
                </a:solidFill>
                <a:latin typeface="Helvetica"/>
              </a:defRPr>
            </a:pPr>
            <a:r>
              <a:t>Engineering Breakthroughs: 300m Feeders &amp; Delay Cost</a:t>
            </a:r>
          </a:p>
          <a:p>
            <a:pPr>
              <a:defRPr sz="1150">
                <a:solidFill>
                  <a:srgbClr val="64748B"/>
                </a:solidFill>
                <a:latin typeface="Arial"/>
              </a:defRPr>
            </a:pPr>
            <a:r>
              <a:t>Overcoming stop-line blindness and designing a non-gameable reward function</a:t>
            </a:r>
          </a:p>
        </p:txBody>
      </p:sp>
      <p:sp>
        <p:nvSpPr>
          <p:cNvPr id="6" name="Rounded Rectangle 5"/>
          <p:cNvSpPr/>
          <p:nvPr/>
        </p:nvSpPr>
        <p:spPr>
          <a:xfrm>
            <a:off x="731520" y="1737360"/>
            <a:ext cx="5242255" cy="361188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01952"/>
            <a:ext cx="4876495" cy="3282696"/>
          </a:xfrm>
          <a:prstGeom prst="rect">
            <a:avLst/>
          </a:prstGeom>
          <a:noFill/>
        </p:spPr>
        <p:txBody>
          <a:bodyPr wrap="square">
            <a:spAutoFit/>
          </a:bodyPr>
          <a:lstStyle/>
          <a:p>
            <a:pPr>
              <a:defRPr sz="1350" b="1">
                <a:solidFill>
                  <a:srgbClr val="2A78D6"/>
                </a:solidFill>
                <a:latin typeface="Helvetica"/>
              </a:defRPr>
            </a:pPr>
            <a:r>
              <a:t>Breakthrough 2: 300-Meter Feeder Walker 🚗</a:t>
            </a:r>
          </a:p>
          <a:p>
            <a:pPr>
              <a:defRPr sz="950">
                <a:solidFill>
                  <a:srgbClr val="0F172A"/>
                </a:solidFill>
              </a:defRPr>
            </a:pPr>
            <a:r>
              <a:t>• The Stop-Line Blindness Trap: In European city centers, stop-lines can be as short as 15 to 20 meters, holding only 2 or 3 vehicles per lane.</a:t>
            </a:r>
          </a:p>
          <a:p>
            <a:pPr>
              <a:defRPr sz="950">
                <a:solidFill>
                  <a:srgbClr val="0F172A"/>
                </a:solidFill>
              </a:defRPr>
            </a:pPr>
            <a:r>
              <a:t>• The Blindspot: If an RL agent only queries the stop-line lane, a massive 60-car traffic jam sitting 30 meters behind it is completely invisible!</a:t>
            </a:r>
          </a:p>
          <a:p>
            <a:pPr>
              <a:defRPr sz="950">
                <a:solidFill>
                  <a:srgbClr val="0F172A"/>
                </a:solidFill>
              </a:defRPr>
            </a:pPr>
            <a:r>
              <a:t>• Our Solution (local_observation.py): We implemented a recursive upstream road crawler.</a:t>
            </a:r>
          </a:p>
          <a:p>
            <a:pPr>
              <a:defRPr sz="950">
                <a:solidFill>
                  <a:srgbClr val="0F172A"/>
                </a:solidFill>
              </a:defRPr>
            </a:pPr>
            <a:r>
              <a:t>• 300-Meter Depth: The algorithm walks backwards along incoming edges up to 300 meters, aggregating halted vehicles on all connected feeder lanes.</a:t>
            </a:r>
          </a:p>
          <a:p>
            <a:pPr>
              <a:defRPr sz="950">
                <a:solidFill>
                  <a:srgbClr val="0F172A"/>
                </a:solidFill>
              </a:defRPr>
            </a:pPr>
            <a:r>
              <a:t>• Result: The agent can see platoons and traffic jams forming hundreds of meters away, giving it the foresight to extend green phases before spillback blocks cross-traffic.</a:t>
            </a:r>
          </a:p>
        </p:txBody>
      </p:sp>
      <p:sp>
        <p:nvSpPr>
          <p:cNvPr id="8" name="Rounded Rectangle 7"/>
          <p:cNvSpPr/>
          <p:nvPr/>
        </p:nvSpPr>
        <p:spPr>
          <a:xfrm>
            <a:off x="6217920" y="1737360"/>
            <a:ext cx="5242255" cy="361188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1901952"/>
            <a:ext cx="4876495" cy="3282696"/>
          </a:xfrm>
          <a:prstGeom prst="rect">
            <a:avLst/>
          </a:prstGeom>
          <a:noFill/>
        </p:spPr>
        <p:txBody>
          <a:bodyPr wrap="square">
            <a:spAutoFit/>
          </a:bodyPr>
          <a:lstStyle/>
          <a:p>
            <a:pPr>
              <a:defRPr sz="1350" b="1">
                <a:solidFill>
                  <a:srgbClr val="10B981"/>
                </a:solidFill>
                <a:latin typeface="Helvetica"/>
              </a:defRPr>
            </a:pPr>
            <a:r>
              <a:t>Breakthrough 3: Delay-Level Cost Reward 🎯</a:t>
            </a:r>
          </a:p>
          <a:p>
            <a:pPr>
              <a:defRPr sz="950">
                <a:solidFill>
                  <a:srgbClr val="0F172A"/>
                </a:solidFill>
              </a:defRPr>
            </a:pPr>
            <a:r>
              <a:t>• Why Change in Waiting Time (ΔW) Failed: Academic papers often reward 'decrease in waiting time'. Agents quickly game this reward by rapidly flipping lights—briefly reducing wait time while causing massive physical gridlock.</a:t>
            </a:r>
          </a:p>
          <a:p>
            <a:pPr>
              <a:defRPr sz="950">
                <a:solidFill>
                  <a:srgbClr val="0F172A"/>
                </a:solidFill>
              </a:defRPr>
            </a:pPr>
            <a:r>
              <a:t>• Our Delay-Cost Function (local_reward.py): Formulated as a direct economic cost penalty:</a:t>
            </a:r>
          </a:p>
          <a:p>
            <a:pPr>
              <a:defRPr sz="950">
                <a:solidFill>
                  <a:srgbClr val="0F172A"/>
                </a:solidFill>
              </a:defRPr>
            </a:pPr>
            <a:r>
              <a:t>• r_i(t) = -0.1 × min(Q_i + 2D_i + S_i + 0.5P_i + 0.5(P_total / 98), 200)</a:t>
            </a:r>
          </a:p>
          <a:p>
            <a:pPr>
              <a:defRPr sz="950">
                <a:solidFill>
                  <a:srgbClr val="0F172A"/>
                </a:solidFill>
              </a:defRPr>
            </a:pPr>
            <a:r>
              <a:t>• Q_i = Halted vehicles on stop-line and 300m feeder approaches.</a:t>
            </a:r>
          </a:p>
          <a:p>
            <a:pPr>
              <a:defRPr sz="950">
                <a:solidFill>
                  <a:srgbClr val="0F172A"/>
                </a:solidFill>
              </a:defRPr>
            </a:pPr>
            <a:r>
              <a:t>• D_i = Stopped vehicles experiencing severe delay (&gt;30s).</a:t>
            </a:r>
          </a:p>
          <a:p>
            <a:pPr>
              <a:defRPr sz="950">
                <a:solidFill>
                  <a:srgbClr val="0F172A"/>
                </a:solidFill>
              </a:defRPr>
            </a:pPr>
            <a:r>
              <a:t>• S_i = Phase switching penalty (discourages unnecessary phase changes).</a:t>
            </a:r>
          </a:p>
          <a:p>
            <a:pPr>
              <a:defRPr sz="950">
                <a:solidFill>
                  <a:srgbClr val="0F172A"/>
                </a:solidFill>
              </a:defRPr>
            </a:pPr>
            <a:r>
              <a:t>• P_i &amp; P_total = Vehicles queued outside the network waiting to enter.</a:t>
            </a:r>
          </a:p>
          <a:p>
            <a:pPr>
              <a:defRPr sz="950">
                <a:solidFill>
                  <a:srgbClr val="0F172A"/>
                </a:solidFill>
              </a:defRPr>
            </a:pPr>
            <a:r>
              <a:t>• Result: Impossible to game. The agent maximizes reward only by flushing vehicles cleanly through the network.</a:t>
            </a:r>
          </a:p>
        </p:txBody>
      </p:sp>
      <p:sp>
        <p:nvSpPr>
          <p:cNvPr id="10" name="Rounded Rectangle 9"/>
          <p:cNvSpPr/>
          <p:nvPr/>
        </p:nvSpPr>
        <p:spPr>
          <a:xfrm>
            <a:off x="731520" y="5532120"/>
            <a:ext cx="10728655" cy="914400"/>
          </a:xfrm>
          <a:prstGeom prst="roundRect">
            <a:avLst/>
          </a:prstGeom>
          <a:solidFill>
            <a:srgbClr val="F0FDF4"/>
          </a:solidFill>
          <a:ln w="15240">
            <a:solidFill>
              <a:srgbClr val="BBF7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5605272"/>
            <a:ext cx="10454335" cy="768096"/>
          </a:xfrm>
          <a:prstGeom prst="rect">
            <a:avLst/>
          </a:prstGeom>
          <a:noFill/>
        </p:spPr>
        <p:txBody>
          <a:bodyPr wrap="square" tIns="0" bIns="0" lIns="0" rIns="0">
            <a:spAutoFit/>
          </a:bodyPr>
          <a:lstStyle/>
          <a:p>
            <a:pPr>
              <a:defRPr sz="950" b="1">
                <a:solidFill>
                  <a:srgbClr val="166534"/>
                </a:solidFill>
                <a:latin typeface="Helvetica"/>
              </a:defRPr>
            </a:pPr>
            <a:r>
              <a:t>💡 HOW TO EXPLAIN TO THE PROFESSOR IN 20 SECONDS (ENGINEERING REALISM):</a:t>
            </a:r>
          </a:p>
          <a:p>
            <a:pPr>
              <a:defRPr sz="1000">
                <a:solidFill>
                  <a:srgbClr val="0F172A"/>
                </a:solidFill>
                <a:latin typeface="Arial"/>
              </a:defRPr>
            </a:pPr>
            <a:r>
              <a:t>Explain to the professor: 'Two practical civil engineering fixes: First, stop-lines only hold 2 cars, so we recursively crawl upstream roads 300 meters to see real queues. Second, we abandoned delta-wait-time (which causes light-flipping oscillation) and used a direct delay-cost penalty that includes outside entry queues.'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solidFill>
              <a:srgbClr val="F8FA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411480"/>
            <a:ext cx="2926080" cy="292608"/>
          </a:xfrm>
          <a:prstGeom prst="roundRect">
            <a:avLst/>
          </a:prstGeom>
          <a:solidFill>
            <a:srgbClr val="EFF6FF"/>
          </a:solidFill>
          <a:ln>
            <a:solidFill>
              <a:srgbClr val="EFF6FF"/>
            </a:solidFill>
          </a:ln>
        </p:spPr>
        <p:style>
          <a:lnRef idx="1">
            <a:schemeClr val="accent1"/>
          </a:lnRef>
          <a:fillRef idx="3">
            <a:schemeClr val="accent1"/>
          </a:fillRef>
          <a:effectRef idx="2">
            <a:schemeClr val="accent1"/>
          </a:effectRef>
          <a:fontRef idx="minor">
            <a:schemeClr val="lt1"/>
          </a:fontRef>
        </p:style>
        <p:txBody>
          <a:bodyPr rtlCol="0" anchor="ctr" tIns="0" bIns="0" lIns="0" rIns="0" wrap="square"/>
          <a:lstStyle/>
          <a:p>
            <a:pPr algn="ctr">
              <a:defRPr sz="950" b="1">
                <a:solidFill>
                  <a:srgbClr val="1D4ED8"/>
                </a:solidFill>
                <a:latin typeface="Helvetica"/>
              </a:defRPr>
            </a:pPr>
            <a:r>
              <a:t>SCIENTIFIC EVALUATION PROTOCOL</a:t>
            </a:r>
          </a:p>
        </p:txBody>
      </p:sp>
      <p:sp>
        <p:nvSpPr>
          <p:cNvPr id="4" name="TextBox 3"/>
          <p:cNvSpPr txBox="1"/>
          <p:nvPr/>
        </p:nvSpPr>
        <p:spPr>
          <a:xfrm>
            <a:off x="10515600" y="365760"/>
            <a:ext cx="914400" cy="320040"/>
          </a:xfrm>
          <a:prstGeom prst="rect">
            <a:avLst/>
          </a:prstGeom>
          <a:noFill/>
        </p:spPr>
        <p:txBody>
          <a:bodyPr wrap="none">
            <a:spAutoFit/>
          </a:bodyPr>
          <a:lstStyle/>
          <a:p>
            <a:pPr algn="r">
              <a:defRPr sz="1000">
                <a:solidFill>
                  <a:srgbClr val="64748B"/>
                </a:solidFill>
                <a:latin typeface="Arial"/>
              </a:defRPr>
            </a:pPr>
            <a:r>
              <a:t>13 / 18</a:t>
            </a:r>
          </a:p>
        </p:txBody>
      </p:sp>
      <p:sp>
        <p:nvSpPr>
          <p:cNvPr id="5" name="TextBox 4"/>
          <p:cNvSpPr txBox="1"/>
          <p:nvPr/>
        </p:nvSpPr>
        <p:spPr>
          <a:xfrm>
            <a:off x="731520" y="777240"/>
            <a:ext cx="10728655" cy="868680"/>
          </a:xfrm>
          <a:prstGeom prst="rect">
            <a:avLst/>
          </a:prstGeom>
          <a:noFill/>
        </p:spPr>
        <p:txBody>
          <a:bodyPr wrap="square" tIns="0" bIns="0" lIns="0" rIns="0">
            <a:spAutoFit/>
          </a:bodyPr>
          <a:lstStyle/>
          <a:p>
            <a:pPr>
              <a:defRPr sz="2100" b="1">
                <a:solidFill>
                  <a:srgbClr val="0F172A"/>
                </a:solidFill>
                <a:latin typeface="Helvetica"/>
              </a:defRPr>
            </a:pPr>
            <a:r>
              <a:t>The Survivor Bias Trap &amp; Drain Metrics Protocol</a:t>
            </a:r>
          </a:p>
          <a:p>
            <a:pPr>
              <a:defRPr sz="1150">
                <a:solidFill>
                  <a:srgbClr val="64748B"/>
                </a:solidFill>
                <a:latin typeface="Arial"/>
              </a:defRPr>
            </a:pPr>
            <a:r>
              <a:t>Why standard academic metrics lie, and how our evaluation scores all scheduled demand</a:t>
            </a:r>
          </a:p>
        </p:txBody>
      </p:sp>
      <p:sp>
        <p:nvSpPr>
          <p:cNvPr id="6" name="Rounded Rectangle 5"/>
          <p:cNvSpPr/>
          <p:nvPr/>
        </p:nvSpPr>
        <p:spPr>
          <a:xfrm>
            <a:off x="731520" y="1737360"/>
            <a:ext cx="5242255" cy="361188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01952"/>
            <a:ext cx="4876495" cy="3282696"/>
          </a:xfrm>
          <a:prstGeom prst="rect">
            <a:avLst/>
          </a:prstGeom>
          <a:noFill/>
        </p:spPr>
        <p:txBody>
          <a:bodyPr wrap="square">
            <a:spAutoFit/>
          </a:bodyPr>
          <a:lstStyle/>
          <a:p>
            <a:pPr>
              <a:defRPr sz="1350" b="1">
                <a:solidFill>
                  <a:srgbClr val="EB6834"/>
                </a:solidFill>
                <a:latin typeface="Helvetica"/>
              </a:defRPr>
            </a:pPr>
            <a:r>
              <a:t>The Survivor Bias Trap in Standard RL ❌</a:t>
            </a:r>
          </a:p>
          <a:p>
            <a:pPr>
              <a:defRPr sz="950">
                <a:solidFill>
                  <a:srgbClr val="0F172A"/>
                </a:solidFill>
              </a:defRPr>
            </a:pPr>
            <a:r>
              <a:t>• What standard literature reports: 'Mean Waiting Time of Completed Trips'.</a:t>
            </a:r>
          </a:p>
          <a:p>
            <a:pPr>
              <a:defRPr sz="950">
                <a:solidFill>
                  <a:srgbClr val="0F172A"/>
                </a:solidFill>
              </a:defRPr>
            </a:pPr>
            <a:r>
              <a:t>• The Fatal Flaw: In a failing, gridlocked simulation, vehicles attempting long journeys across the city get trapped in queues and NEVER reach their destinations.</a:t>
            </a:r>
          </a:p>
          <a:p>
            <a:pPr>
              <a:defRPr sz="950">
                <a:solidFill>
                  <a:srgbClr val="0F172A"/>
                </a:solidFill>
              </a:defRPr>
            </a:pPr>
            <a:r>
              <a:t>• Who actually completes? Only lucky vehicles taking short, direct trips on uncongested perimeter roads.</a:t>
            </a:r>
          </a:p>
          <a:p>
            <a:pPr>
              <a:defRPr sz="950">
                <a:solidFill>
                  <a:srgbClr val="0F172A"/>
                </a:solidFill>
              </a:defRPr>
            </a:pPr>
            <a:r>
              <a:t>• The Paradoxical Lie: The simulator computes average wait time ONLY across the completed cars. Because only the fast, uncongested cars finished, the metric reports a falsely low waiting time!</a:t>
            </a:r>
          </a:p>
          <a:p>
            <a:pPr>
              <a:defRPr sz="950">
                <a:solidFill>
                  <a:srgbClr val="0F172A"/>
                </a:solidFill>
              </a:defRPr>
            </a:pPr>
            <a:r>
              <a:t>• Severe Disguise: An agent causing catastrophic citywide gridlock can appear to have 'low wait times' simply by trapping all difficult trips forever.</a:t>
            </a:r>
          </a:p>
        </p:txBody>
      </p:sp>
      <p:sp>
        <p:nvSpPr>
          <p:cNvPr id="8" name="Rounded Rectangle 7"/>
          <p:cNvSpPr/>
          <p:nvPr/>
        </p:nvSpPr>
        <p:spPr>
          <a:xfrm>
            <a:off x="6217920" y="1737360"/>
            <a:ext cx="5242255" cy="361188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1901952"/>
            <a:ext cx="4876495" cy="3282696"/>
          </a:xfrm>
          <a:prstGeom prst="rect">
            <a:avLst/>
          </a:prstGeom>
          <a:noFill/>
        </p:spPr>
        <p:txBody>
          <a:bodyPr wrap="square">
            <a:spAutoFit/>
          </a:bodyPr>
          <a:lstStyle/>
          <a:p>
            <a:pPr>
              <a:defRPr sz="1350" b="1">
                <a:solidFill>
                  <a:srgbClr val="10B981"/>
                </a:solidFill>
                <a:latin typeface="Helvetica"/>
              </a:defRPr>
            </a:pPr>
            <a:r>
              <a:t>Our Solution: The Drain Metrics Protocol ✅</a:t>
            </a:r>
          </a:p>
          <a:p>
            <a:pPr>
              <a:defRPr sz="950">
                <a:solidFill>
                  <a:srgbClr val="0F172A"/>
                </a:solidFill>
              </a:defRPr>
            </a:pPr>
            <a:r>
              <a:t>• Implemented in src/evaluation/drain_metrics.py to eliminate survivor bias.</a:t>
            </a:r>
          </a:p>
          <a:p>
            <a:pPr>
              <a:defRPr sz="950">
                <a:solidFill>
                  <a:srgbClr val="0F172A"/>
                </a:solidFill>
              </a:defRPr>
            </a:pPr>
            <a:r>
              <a:t>• Scores ALL ~15,000 Scheduled Trips: Evaluates every vehicle that was supposed to travel during the rush hour.</a:t>
            </a:r>
          </a:p>
          <a:p>
            <a:pPr>
              <a:defRPr sz="950">
                <a:solidFill>
                  <a:srgbClr val="0F172A"/>
                </a:solidFill>
              </a:defRPr>
            </a:pPr>
            <a:r>
              <a:t>• Free-Flow Ideal Baseline: Calculates the theoretical zero-delay completion time for each car: ideal_k = depart_k + free_flow_time_k.</a:t>
            </a:r>
          </a:p>
          <a:p>
            <a:pPr>
              <a:defRPr sz="950">
                <a:solidFill>
                  <a:srgbClr val="0F172A"/>
                </a:solidFill>
              </a:defRPr>
            </a:pPr>
            <a:r>
              <a:t>• Lag per Scheduled Car: Lag_k = min(actual_arrival_k, T_end) - min(ideal_k, T_end).</a:t>
            </a:r>
          </a:p>
          <a:p>
            <a:pPr>
              <a:defRPr sz="950">
                <a:solidFill>
                  <a:srgbClr val="0F172A"/>
                </a:solidFill>
              </a:defRPr>
            </a:pPr>
            <a:r>
              <a:t>• Trapped Car Penalty: If a vehicle gets stuck or never enters the city, its completion time is penalized at the simulation boundary (T_end = 08:00).</a:t>
            </a:r>
          </a:p>
          <a:p>
            <a:pPr>
              <a:defRPr sz="950">
                <a:solidFill>
                  <a:srgbClr val="0F172A"/>
                </a:solidFill>
              </a:defRPr>
            </a:pPr>
            <a:r>
              <a:t>• Total Network Accountability: A controller cannot score well without draining the entire city cleanly.</a:t>
            </a:r>
          </a:p>
        </p:txBody>
      </p:sp>
      <p:sp>
        <p:nvSpPr>
          <p:cNvPr id="10" name="Rounded Rectangle 9"/>
          <p:cNvSpPr/>
          <p:nvPr/>
        </p:nvSpPr>
        <p:spPr>
          <a:xfrm>
            <a:off x="731520" y="5532120"/>
            <a:ext cx="10728655" cy="914400"/>
          </a:xfrm>
          <a:prstGeom prst="roundRect">
            <a:avLst/>
          </a:prstGeom>
          <a:solidFill>
            <a:srgbClr val="F0FDF4"/>
          </a:solidFill>
          <a:ln w="15240">
            <a:solidFill>
              <a:srgbClr val="BBF7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5605272"/>
            <a:ext cx="10454335" cy="768096"/>
          </a:xfrm>
          <a:prstGeom prst="rect">
            <a:avLst/>
          </a:prstGeom>
          <a:noFill/>
        </p:spPr>
        <p:txBody>
          <a:bodyPr wrap="square" tIns="0" bIns="0" lIns="0" rIns="0">
            <a:spAutoFit/>
          </a:bodyPr>
          <a:lstStyle/>
          <a:p>
            <a:pPr>
              <a:defRPr sz="950" b="1">
                <a:solidFill>
                  <a:srgbClr val="166534"/>
                </a:solidFill>
                <a:latin typeface="Helvetica"/>
              </a:defRPr>
            </a:pPr>
            <a:r>
              <a:t>💡 HOW TO EXPLAIN TO THE PROFESSOR IN 20 SECONDS (SURVIVOR BIAS ANALOGY):</a:t>
            </a:r>
          </a:p>
          <a:p>
            <a:pPr>
              <a:defRPr sz="1000">
                <a:solidFill>
                  <a:srgbClr val="0F172A"/>
                </a:solidFill>
                <a:latin typeface="Arial"/>
              </a:defRPr>
            </a:pPr>
            <a:r>
              <a:t>Explain to the professor: 'Evaluating traffic by only completed cars is like evaluating a hospital by only counting patients who walked out alive! If an RL policy causes gridlock, cars get trapped and never finish. Our Drain Metrics score all 15,000 scheduled cars against ideal free-flow arrival, eliminating survivor bias.'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solidFill>
              <a:srgbClr val="F8FA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411480"/>
            <a:ext cx="2926080" cy="292608"/>
          </a:xfrm>
          <a:prstGeom prst="roundRect">
            <a:avLst/>
          </a:prstGeom>
          <a:solidFill>
            <a:srgbClr val="EFF6FF"/>
          </a:solidFill>
          <a:ln>
            <a:solidFill>
              <a:srgbClr val="EFF6FF"/>
            </a:solidFill>
          </a:ln>
        </p:spPr>
        <p:style>
          <a:lnRef idx="1">
            <a:schemeClr val="accent1"/>
          </a:lnRef>
          <a:fillRef idx="3">
            <a:schemeClr val="accent1"/>
          </a:fillRef>
          <a:effectRef idx="2">
            <a:schemeClr val="accent1"/>
          </a:effectRef>
          <a:fontRef idx="minor">
            <a:schemeClr val="lt1"/>
          </a:fontRef>
        </p:style>
        <p:txBody>
          <a:bodyPr rtlCol="0" anchor="ctr" tIns="0" bIns="0" lIns="0" rIns="0" wrap="square"/>
          <a:lstStyle/>
          <a:p>
            <a:pPr algn="ctr">
              <a:defRPr sz="950" b="1">
                <a:solidFill>
                  <a:srgbClr val="1D4ED8"/>
                </a:solidFill>
                <a:latin typeface="Helvetica"/>
              </a:defRPr>
            </a:pPr>
            <a:r>
              <a:t>STATISTICAL EVIDENCE FIGURE</a:t>
            </a:r>
          </a:p>
        </p:txBody>
      </p:sp>
      <p:sp>
        <p:nvSpPr>
          <p:cNvPr id="4" name="TextBox 3"/>
          <p:cNvSpPr txBox="1"/>
          <p:nvPr/>
        </p:nvSpPr>
        <p:spPr>
          <a:xfrm>
            <a:off x="10515600" y="365760"/>
            <a:ext cx="914400" cy="320040"/>
          </a:xfrm>
          <a:prstGeom prst="rect">
            <a:avLst/>
          </a:prstGeom>
          <a:noFill/>
        </p:spPr>
        <p:txBody>
          <a:bodyPr wrap="none">
            <a:spAutoFit/>
          </a:bodyPr>
          <a:lstStyle/>
          <a:p>
            <a:pPr algn="r">
              <a:defRPr sz="1000">
                <a:solidFill>
                  <a:srgbClr val="64748B"/>
                </a:solidFill>
                <a:latin typeface="Arial"/>
              </a:defRPr>
            </a:pPr>
            <a:r>
              <a:t>14 / 18</a:t>
            </a:r>
          </a:p>
        </p:txBody>
      </p:sp>
      <p:sp>
        <p:nvSpPr>
          <p:cNvPr id="5" name="TextBox 4"/>
          <p:cNvSpPr txBox="1"/>
          <p:nvPr/>
        </p:nvSpPr>
        <p:spPr>
          <a:xfrm>
            <a:off x="731520" y="777240"/>
            <a:ext cx="10728655" cy="868680"/>
          </a:xfrm>
          <a:prstGeom prst="rect">
            <a:avLst/>
          </a:prstGeom>
          <a:noFill/>
        </p:spPr>
        <p:txBody>
          <a:bodyPr wrap="square" tIns="0" bIns="0" lIns="0" rIns="0">
            <a:spAutoFit/>
          </a:bodyPr>
          <a:lstStyle/>
          <a:p>
            <a:pPr>
              <a:defRPr sz="2100" b="1">
                <a:solidFill>
                  <a:srgbClr val="0F172A"/>
                </a:solidFill>
                <a:latin typeface="Helvetica"/>
              </a:defRPr>
            </a:pPr>
            <a:r>
              <a:t>Figure 4 Walkthrough: 10-Seed Head-to-Head Victory</a:t>
            </a:r>
          </a:p>
          <a:p>
            <a:pPr>
              <a:defRPr sz="1150">
                <a:solidFill>
                  <a:srgbClr val="64748B"/>
                </a:solidFill>
                <a:latin typeface="Arial"/>
              </a:defRPr>
            </a:pPr>
            <a:r>
              <a:t>Every single gray line slopes downward: CityMind wins 10 out of 10 independent random seeds</a:t>
            </a:r>
          </a:p>
        </p:txBody>
      </p:sp>
      <p:sp>
        <p:nvSpPr>
          <p:cNvPr id="6" name="Rounded Rectangle 5"/>
          <p:cNvSpPr/>
          <p:nvPr/>
        </p:nvSpPr>
        <p:spPr>
          <a:xfrm>
            <a:off x="731520" y="1737360"/>
            <a:ext cx="6217920" cy="36576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ig_seed_lag.png"/>
          <p:cNvPicPr>
            <a:picLocks noChangeAspect="1"/>
          </p:cNvPicPr>
          <p:nvPr/>
        </p:nvPicPr>
        <p:blipFill>
          <a:blip r:embed="rId2"/>
          <a:stretch>
            <a:fillRect/>
          </a:stretch>
        </p:blipFill>
        <p:spPr>
          <a:xfrm>
            <a:off x="868680" y="2011680"/>
            <a:ext cx="5943600" cy="3151909"/>
          </a:xfrm>
          <a:prstGeom prst="rect">
            <a:avLst/>
          </a:prstGeom>
        </p:spPr>
      </p:pic>
      <p:sp>
        <p:nvSpPr>
          <p:cNvPr id="8" name="Rounded Rectangle 7"/>
          <p:cNvSpPr/>
          <p:nvPr/>
        </p:nvSpPr>
        <p:spPr>
          <a:xfrm>
            <a:off x="7132320" y="1737360"/>
            <a:ext cx="4327855" cy="36576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0" y="1874519"/>
            <a:ext cx="3962095" cy="3383280"/>
          </a:xfrm>
          <a:prstGeom prst="rect">
            <a:avLst/>
          </a:prstGeom>
          <a:noFill/>
        </p:spPr>
        <p:txBody>
          <a:bodyPr wrap="square">
            <a:spAutoFit/>
          </a:bodyPr>
          <a:lstStyle/>
          <a:p>
            <a:pPr>
              <a:defRPr sz="1350" b="1">
                <a:solidFill>
                  <a:srgbClr val="2A78D6"/>
                </a:solidFill>
                <a:latin typeface="Helvetica"/>
              </a:defRPr>
            </a:pPr>
            <a:r>
              <a:t>Statistical Rigor of Figure 4</a:t>
            </a:r>
          </a:p>
          <a:p>
            <a:pPr>
              <a:defRPr sz="950">
                <a:solidFill>
                  <a:srgbClr val="0F172A"/>
                </a:solidFill>
              </a:defRPr>
            </a:pPr>
            <a:r>
              <a:t>The Evaluation Protocol: 40 full 1-hour simulation runs across 10 random seeds (7, 11, 19, 23, 31, 42, 57, 91, 123, 777).</a:t>
            </a:r>
          </a:p>
          <a:p>
            <a:pPr>
              <a:defRPr sz="950">
                <a:solidFill>
                  <a:srgbClr val="0F172A"/>
                </a:solidFill>
              </a:defRPr>
            </a:pPr>
            <a:r>
              <a:t>What the Gray Lines Represent: Each connecting gray line is ONE exact traffic realization tested head-to-head across SUMO actuated, Model A, and Model B.</a:t>
            </a:r>
          </a:p>
          <a:p>
            <a:pPr>
              <a:defRPr sz="950">
                <a:solidFill>
                  <a:srgbClr val="0F172A"/>
                </a:solidFill>
              </a:defRPr>
            </a:pPr>
            <a:r>
              <a:t>The Unbroken Downward Slope: Notice that every single line slopes downward from baseline to our models. There is not a single seed where the baseline won!</a:t>
            </a:r>
          </a:p>
          <a:p>
            <a:pPr>
              <a:defRPr sz="950">
                <a:solidFill>
                  <a:srgbClr val="0F172A"/>
                </a:solidFill>
              </a:defRPr>
            </a:pPr>
            <a:r>
              <a:t>Baseline (SUMO Actuated): Mean lag of 276.8 seconds per scheduled vehicle.</a:t>
            </a:r>
          </a:p>
          <a:p>
            <a:pPr>
              <a:defRPr sz="950">
                <a:solidFill>
                  <a:srgbClr val="0F172A"/>
                </a:solidFill>
              </a:defRPr>
            </a:pPr>
            <a:r>
              <a:t>CityMind Model A: Mean lag of 235.4 seconds (-41.4 seconds, -15.0%). Won 10/10 seeds (p = 0.002, exact sign test).</a:t>
            </a:r>
          </a:p>
          <a:p>
            <a:pPr>
              <a:defRPr sz="950">
                <a:solidFill>
                  <a:srgbClr val="0F172A"/>
                </a:solidFill>
              </a:defRPr>
            </a:pPr>
            <a:r>
              <a:t>CityMind Model B: Mean lag of 239.9 seconds (-36.9 seconds, -13.3%). Won 10/10 seeds (p = 0.002, exact sign test).</a:t>
            </a:r>
          </a:p>
          <a:p>
            <a:pPr>
              <a:defRPr sz="950">
                <a:solidFill>
                  <a:srgbClr val="0F172A"/>
                </a:solidFill>
              </a:defRPr>
            </a:pPr>
            <a:r>
              <a:t>Confidence Interval: 95% t-interval for Model A difference is [-43.9 s, -38.9 s], safely excluding zero.</a:t>
            </a:r>
          </a:p>
        </p:txBody>
      </p:sp>
      <p:sp>
        <p:nvSpPr>
          <p:cNvPr id="10" name="Rounded Rectangle 9"/>
          <p:cNvSpPr/>
          <p:nvPr/>
        </p:nvSpPr>
        <p:spPr>
          <a:xfrm>
            <a:off x="731520" y="5532120"/>
            <a:ext cx="10728655" cy="914400"/>
          </a:xfrm>
          <a:prstGeom prst="roundRect">
            <a:avLst/>
          </a:prstGeom>
          <a:solidFill>
            <a:srgbClr val="F0FDF4"/>
          </a:solidFill>
          <a:ln w="15240">
            <a:solidFill>
              <a:srgbClr val="BBF7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5605272"/>
            <a:ext cx="10454335" cy="768096"/>
          </a:xfrm>
          <a:prstGeom prst="rect">
            <a:avLst/>
          </a:prstGeom>
          <a:noFill/>
        </p:spPr>
        <p:txBody>
          <a:bodyPr wrap="square" tIns="0" bIns="0" lIns="0" rIns="0">
            <a:spAutoFit/>
          </a:bodyPr>
          <a:lstStyle/>
          <a:p>
            <a:pPr>
              <a:defRPr sz="950" b="1">
                <a:solidFill>
                  <a:srgbClr val="166534"/>
                </a:solidFill>
                <a:latin typeface="Helvetica"/>
              </a:defRPr>
            </a:pPr>
            <a:r>
              <a:t>💡 HOW TO EXPLAIN TO THE PROFESSOR IN 20 SECONDS (FIGURE 4 WALKTHROUGH):</a:t>
            </a:r>
          </a:p>
          <a:p>
            <a:pPr>
              <a:defRPr sz="1000">
                <a:solidFill>
                  <a:srgbClr val="0F172A"/>
                </a:solidFill>
                <a:latin typeface="Arial"/>
              </a:defRPr>
            </a:pPr>
            <a:r>
              <a:t>Explain to the professor: 'Point directly to Figure 4: The y-axis is lag per car. The left column is the civil engineering baseline; the middle is Model A. Each gray line is the exact same traffic seed. Every single line slopes downward! That proves our victory is not a random lucky seed—it is a 10-out-of-10 statistically verified result (p=0.002).'</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solidFill>
              <a:srgbClr val="F8FA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411480"/>
            <a:ext cx="2926080" cy="292608"/>
          </a:xfrm>
          <a:prstGeom prst="roundRect">
            <a:avLst/>
          </a:prstGeom>
          <a:solidFill>
            <a:srgbClr val="EFF6FF"/>
          </a:solidFill>
          <a:ln>
            <a:solidFill>
              <a:srgbClr val="EFF6FF"/>
            </a:solidFill>
          </a:ln>
        </p:spPr>
        <p:style>
          <a:lnRef idx="1">
            <a:schemeClr val="accent1"/>
          </a:lnRef>
          <a:fillRef idx="3">
            <a:schemeClr val="accent1"/>
          </a:fillRef>
          <a:effectRef idx="2">
            <a:schemeClr val="accent1"/>
          </a:effectRef>
          <a:fontRef idx="minor">
            <a:schemeClr val="lt1"/>
          </a:fontRef>
        </p:style>
        <p:txBody>
          <a:bodyPr rtlCol="0" anchor="ctr" tIns="0" bIns="0" lIns="0" rIns="0" wrap="square"/>
          <a:lstStyle/>
          <a:p>
            <a:pPr algn="ctr">
              <a:defRPr sz="950" b="1">
                <a:solidFill>
                  <a:srgbClr val="1D4ED8"/>
                </a:solidFill>
                <a:latin typeface="Helvetica"/>
              </a:defRPr>
            </a:pPr>
            <a:r>
              <a:t>BENCHMARK COMPARISON FIGURE</a:t>
            </a:r>
          </a:p>
        </p:txBody>
      </p:sp>
      <p:sp>
        <p:nvSpPr>
          <p:cNvPr id="4" name="TextBox 3"/>
          <p:cNvSpPr txBox="1"/>
          <p:nvPr/>
        </p:nvSpPr>
        <p:spPr>
          <a:xfrm>
            <a:off x="10515600" y="365760"/>
            <a:ext cx="914400" cy="320040"/>
          </a:xfrm>
          <a:prstGeom prst="rect">
            <a:avLst/>
          </a:prstGeom>
          <a:noFill/>
        </p:spPr>
        <p:txBody>
          <a:bodyPr wrap="none">
            <a:spAutoFit/>
          </a:bodyPr>
          <a:lstStyle/>
          <a:p>
            <a:pPr algn="r">
              <a:defRPr sz="1000">
                <a:solidFill>
                  <a:srgbClr val="64748B"/>
                </a:solidFill>
                <a:latin typeface="Arial"/>
              </a:defRPr>
            </a:pPr>
            <a:r>
              <a:t>15 / 18</a:t>
            </a:r>
          </a:p>
        </p:txBody>
      </p:sp>
      <p:sp>
        <p:nvSpPr>
          <p:cNvPr id="5" name="TextBox 4"/>
          <p:cNvSpPr txBox="1"/>
          <p:nvPr/>
        </p:nvSpPr>
        <p:spPr>
          <a:xfrm>
            <a:off x="731520" y="777240"/>
            <a:ext cx="10728655" cy="868680"/>
          </a:xfrm>
          <a:prstGeom prst="rect">
            <a:avLst/>
          </a:prstGeom>
          <a:noFill/>
        </p:spPr>
        <p:txBody>
          <a:bodyPr wrap="square" tIns="0" bIns="0" lIns="0" rIns="0">
            <a:spAutoFit/>
          </a:bodyPr>
          <a:lstStyle/>
          <a:p>
            <a:pPr>
              <a:defRPr sz="2100" b="1">
                <a:solidFill>
                  <a:srgbClr val="0F172A"/>
                </a:solidFill>
                <a:latin typeface="Helvetica"/>
              </a:defRPr>
            </a:pPr>
            <a:r>
              <a:t>Figure 5 Walkthrough: Multi-Metric Citywide Gains</a:t>
            </a:r>
          </a:p>
          <a:p>
            <a:pPr>
              <a:defRPr sz="1150">
                <a:solidFill>
                  <a:srgbClr val="64748B"/>
                </a:solidFill>
                <a:latin typeface="Arial"/>
              </a:defRPr>
            </a:pPr>
            <a:r>
              <a:t>Longer bars indicate greater percentage improvement over SUMO Actuated across 14 metrics</a:t>
            </a:r>
          </a:p>
        </p:txBody>
      </p:sp>
      <p:sp>
        <p:nvSpPr>
          <p:cNvPr id="6" name="Rounded Rectangle 5"/>
          <p:cNvSpPr/>
          <p:nvPr/>
        </p:nvSpPr>
        <p:spPr>
          <a:xfrm>
            <a:off x="731520" y="1737360"/>
            <a:ext cx="6217920" cy="36576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ig_improvement.png"/>
          <p:cNvPicPr>
            <a:picLocks noChangeAspect="1"/>
          </p:cNvPicPr>
          <p:nvPr/>
        </p:nvPicPr>
        <p:blipFill>
          <a:blip r:embed="rId2"/>
          <a:stretch>
            <a:fillRect/>
          </a:stretch>
        </p:blipFill>
        <p:spPr>
          <a:xfrm>
            <a:off x="1280160" y="1783080"/>
            <a:ext cx="5120640" cy="4446872"/>
          </a:xfrm>
          <a:prstGeom prst="rect">
            <a:avLst/>
          </a:prstGeom>
        </p:spPr>
      </p:pic>
      <p:sp>
        <p:nvSpPr>
          <p:cNvPr id="8" name="Rounded Rectangle 7"/>
          <p:cNvSpPr/>
          <p:nvPr/>
        </p:nvSpPr>
        <p:spPr>
          <a:xfrm>
            <a:off x="7132320" y="1737360"/>
            <a:ext cx="4327855" cy="36576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0" y="1874519"/>
            <a:ext cx="3962095" cy="3383280"/>
          </a:xfrm>
          <a:prstGeom prst="rect">
            <a:avLst/>
          </a:prstGeom>
          <a:noFill/>
        </p:spPr>
        <p:txBody>
          <a:bodyPr wrap="square">
            <a:spAutoFit/>
          </a:bodyPr>
          <a:lstStyle/>
          <a:p>
            <a:pPr>
              <a:defRPr sz="1350" b="1">
                <a:solidFill>
                  <a:srgbClr val="10B981"/>
                </a:solidFill>
                <a:latin typeface="Helvetica"/>
              </a:defRPr>
            </a:pPr>
            <a:r>
              <a:t>Key Metric Breakdown in Figure 5</a:t>
            </a:r>
          </a:p>
          <a:p>
            <a:pPr>
              <a:defRPr sz="950">
                <a:solidFill>
                  <a:srgbClr val="0F172A"/>
                </a:solidFill>
              </a:defRPr>
            </a:pPr>
            <a:r>
              <a:t>How to Read the Chart: Horizontal bars show percentage improvement over SUMO Actuated (longer = better). Blue = Model A; Orange = Model B. Numbers show seeds won (out of 10).</a:t>
            </a:r>
          </a:p>
          <a:p>
            <a:pPr>
              <a:defRPr sz="950">
                <a:solidFill>
                  <a:srgbClr val="0F172A"/>
                </a:solidFill>
              </a:defRPr>
            </a:pPr>
            <a:r>
              <a:t>Mean Waiting Time (-41.1%): The longest bar at the top! Waiting time at intersections dropped from 6.39s to 3.77s (10/10 seeds won).</a:t>
            </a:r>
          </a:p>
          <a:p>
            <a:pPr>
              <a:defRPr sz="950">
                <a:solidFill>
                  <a:srgbClr val="0F172A"/>
                </a:solidFill>
              </a:defRPr>
            </a:pPr>
            <a:r>
              <a:t>Mean Queue Length (-27.9%): Average junction queue dropped from 0.44 to 0.32 halted cars (10/10 seeds won).</a:t>
            </a:r>
          </a:p>
          <a:p>
            <a:pPr>
              <a:defRPr sz="950">
                <a:solidFill>
                  <a:srgbClr val="0F172A"/>
                </a:solidFill>
              </a:defRPr>
            </a:pPr>
            <a:r>
              <a:t>City Backlog (-8.2%, -256 Cars): At 08:00, 256 fewer cars were left trapped inside the city network (10/10 seeds won).</a:t>
            </a:r>
          </a:p>
          <a:p>
            <a:pPr>
              <a:defRPr sz="950">
                <a:solidFill>
                  <a:srgbClr val="0F172A"/>
                </a:solidFill>
              </a:defRPr>
            </a:pPr>
            <a:r>
              <a:t>Trips Completed (+258 Cars): Finished journeys increased by +258 vehicles (from 11,585 to 11,842, 10/10 seeds won).</a:t>
            </a:r>
          </a:p>
          <a:p>
            <a:pPr>
              <a:defRPr sz="950">
                <a:solidFill>
                  <a:srgbClr val="0F172A"/>
                </a:solidFill>
              </a:defRPr>
            </a:pPr>
            <a:r>
              <a:t>Zero Degradation: No metric is worse. Fixed-time, in contrast, failed on 11 out of 14 metrics.</a:t>
            </a:r>
          </a:p>
        </p:txBody>
      </p:sp>
      <p:sp>
        <p:nvSpPr>
          <p:cNvPr id="10" name="Rounded Rectangle 9"/>
          <p:cNvSpPr/>
          <p:nvPr/>
        </p:nvSpPr>
        <p:spPr>
          <a:xfrm>
            <a:off x="731520" y="5532120"/>
            <a:ext cx="10728655" cy="914400"/>
          </a:xfrm>
          <a:prstGeom prst="roundRect">
            <a:avLst/>
          </a:prstGeom>
          <a:solidFill>
            <a:srgbClr val="F0FDF4"/>
          </a:solidFill>
          <a:ln w="15240">
            <a:solidFill>
              <a:srgbClr val="BBF7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5605272"/>
            <a:ext cx="10454335" cy="768096"/>
          </a:xfrm>
          <a:prstGeom prst="rect">
            <a:avLst/>
          </a:prstGeom>
          <a:noFill/>
        </p:spPr>
        <p:txBody>
          <a:bodyPr wrap="square" tIns="0" bIns="0" lIns="0" rIns="0">
            <a:spAutoFit/>
          </a:bodyPr>
          <a:lstStyle/>
          <a:p>
            <a:pPr>
              <a:defRPr sz="950" b="1">
                <a:solidFill>
                  <a:srgbClr val="166534"/>
                </a:solidFill>
                <a:latin typeface="Helvetica"/>
              </a:defRPr>
            </a:pPr>
            <a:r>
              <a:t>💡 HOW TO EXPLAIN TO THE PROFESSOR IN 20 SECONDS (FIGURE 5 WALKTHROUGH):</a:t>
            </a:r>
          </a:p>
          <a:p>
            <a:pPr>
              <a:defRPr sz="1000">
                <a:solidFill>
                  <a:srgbClr val="0F172A"/>
                </a:solidFill>
                <a:latin typeface="Arial"/>
              </a:defRPr>
            </a:pPr>
            <a:r>
              <a:t>Explain to the professor: 'Point to Figure 5: This bar chart displays all 14 traffic metrics. Notice that every bar extends to the right—meaning positive improvement over SUMO Actuated. Notice the small numbers on the right of each bar: 10/10, 10/10, 10/10. We didn't sacrifice one metric to boost another; the entire network improved.'</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solidFill>
              <a:srgbClr val="F8FA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411480"/>
            <a:ext cx="2926080" cy="292608"/>
          </a:xfrm>
          <a:prstGeom prst="roundRect">
            <a:avLst/>
          </a:prstGeom>
          <a:solidFill>
            <a:srgbClr val="EFF6FF"/>
          </a:solidFill>
          <a:ln>
            <a:solidFill>
              <a:srgbClr val="EFF6FF"/>
            </a:solidFill>
          </a:ln>
        </p:spPr>
        <p:style>
          <a:lnRef idx="1">
            <a:schemeClr val="accent1"/>
          </a:lnRef>
          <a:fillRef idx="3">
            <a:schemeClr val="accent1"/>
          </a:fillRef>
          <a:effectRef idx="2">
            <a:schemeClr val="accent1"/>
          </a:effectRef>
          <a:fontRef idx="minor">
            <a:schemeClr val="lt1"/>
          </a:fontRef>
        </p:style>
        <p:txBody>
          <a:bodyPr rtlCol="0" anchor="ctr" tIns="0" bIns="0" lIns="0" rIns="0" wrap="square"/>
          <a:lstStyle/>
          <a:p>
            <a:pPr algn="ctr">
              <a:defRPr sz="950" b="1">
                <a:solidFill>
                  <a:srgbClr val="1D4ED8"/>
                </a:solidFill>
                <a:latin typeface="Helvetica"/>
              </a:defRPr>
            </a:pPr>
            <a:r>
              <a:t>NUMERICAL PERFORMANCE MATRIX</a:t>
            </a:r>
          </a:p>
        </p:txBody>
      </p:sp>
      <p:sp>
        <p:nvSpPr>
          <p:cNvPr id="4" name="TextBox 3"/>
          <p:cNvSpPr txBox="1"/>
          <p:nvPr/>
        </p:nvSpPr>
        <p:spPr>
          <a:xfrm>
            <a:off x="10515600" y="365760"/>
            <a:ext cx="914400" cy="320040"/>
          </a:xfrm>
          <a:prstGeom prst="rect">
            <a:avLst/>
          </a:prstGeom>
          <a:noFill/>
        </p:spPr>
        <p:txBody>
          <a:bodyPr wrap="none">
            <a:spAutoFit/>
          </a:bodyPr>
          <a:lstStyle/>
          <a:p>
            <a:pPr algn="r">
              <a:defRPr sz="1000">
                <a:solidFill>
                  <a:srgbClr val="64748B"/>
                </a:solidFill>
                <a:latin typeface="Arial"/>
              </a:defRPr>
            </a:pPr>
            <a:r>
              <a:t>16 / 18</a:t>
            </a:r>
          </a:p>
        </p:txBody>
      </p:sp>
      <p:sp>
        <p:nvSpPr>
          <p:cNvPr id="5" name="TextBox 4"/>
          <p:cNvSpPr txBox="1"/>
          <p:nvPr/>
        </p:nvSpPr>
        <p:spPr>
          <a:xfrm>
            <a:off x="731520" y="777240"/>
            <a:ext cx="10728655" cy="868680"/>
          </a:xfrm>
          <a:prstGeom prst="rect">
            <a:avLst/>
          </a:prstGeom>
          <a:noFill/>
        </p:spPr>
        <p:txBody>
          <a:bodyPr wrap="square" tIns="0" bIns="0" lIns="0" rIns="0">
            <a:spAutoFit/>
          </a:bodyPr>
          <a:lstStyle/>
          <a:p>
            <a:pPr>
              <a:defRPr sz="2100" b="1">
                <a:solidFill>
                  <a:srgbClr val="0F172A"/>
                </a:solidFill>
                <a:latin typeface="Helvetica"/>
              </a:defRPr>
            </a:pPr>
            <a:r>
              <a:t>Comprehensive Head-to-Head Benchmark Table</a:t>
            </a:r>
          </a:p>
          <a:p>
            <a:pPr>
              <a:defRPr sz="1150">
                <a:solidFill>
                  <a:srgbClr val="64748B"/>
                </a:solidFill>
                <a:latin typeface="Arial"/>
              </a:defRPr>
            </a:pPr>
            <a:r>
              <a:t>Statistical comparison across SUMO Actuated, Fixed-Time, Model A, and Model B</a:t>
            </a:r>
          </a:p>
        </p:txBody>
      </p:sp>
      <p:graphicFrame>
        <p:nvGraphicFramePr>
          <p:cNvPr id="6" name="Table 5"/>
          <p:cNvGraphicFramePr>
            <a:graphicFrameLocks noGrp="1"/>
          </p:cNvGraphicFramePr>
          <p:nvPr/>
        </p:nvGraphicFramePr>
        <p:xfrm>
          <a:off x="731520" y="1737360"/>
          <a:ext cx="10728655" cy="3611880"/>
        </p:xfrm>
        <a:graphic>
          <a:graphicData uri="http://schemas.openxmlformats.org/drawingml/2006/table">
            <a:tbl>
              <a:tblPr firstRow="1" bandRow="1">
                <a:tableStyleId>{5C22544A-7EE6-4342-B048-85BDC9FD1C3A}</a:tableStyleId>
              </a:tblPr>
              <a:tblGrid>
                <a:gridCol w="2468880"/>
                <a:gridCol w="1371600"/>
                <a:gridCol w="1280160"/>
                <a:gridCol w="1371600"/>
                <a:gridCol w="1554480"/>
                <a:gridCol w="1280160"/>
                <a:gridCol w="1401775"/>
              </a:tblGrid>
              <a:tr h="401320">
                <a:tc>
                  <a:txBody>
                    <a:bodyPr/>
                    <a:lstStyle/>
                    <a:p>
                      <a:pPr>
                        <a:defRPr sz="1000" b="1">
                          <a:solidFill>
                            <a:srgbClr val="FFFFFF"/>
                          </a:solidFill>
                          <a:latin typeface="Helvetica"/>
                        </a:defRPr>
                      </a:pPr>
                      <a:r>
                        <a:t>Metric Evaluated</a:t>
                      </a:r>
                    </a:p>
                  </a:txBody>
                  <a:tcPr>
                    <a:solidFill>
                      <a:srgbClr val="0F172A"/>
                    </a:solidFill>
                  </a:tcPr>
                </a:tc>
                <a:tc>
                  <a:txBody>
                    <a:bodyPr/>
                    <a:lstStyle/>
                    <a:p>
                      <a:pPr>
                        <a:defRPr sz="1000" b="1">
                          <a:solidFill>
                            <a:srgbClr val="FFFFFF"/>
                          </a:solidFill>
                          <a:latin typeface="Helvetica"/>
                        </a:defRPr>
                      </a:pPr>
                      <a:r>
                        <a:t>SUMO Actuated (Base)</a:t>
                      </a:r>
                    </a:p>
                  </a:txBody>
                  <a:tcPr>
                    <a:solidFill>
                      <a:srgbClr val="0F172A"/>
                    </a:solidFill>
                  </a:tcPr>
                </a:tc>
                <a:tc>
                  <a:txBody>
                    <a:bodyPr/>
                    <a:lstStyle/>
                    <a:p>
                      <a:pPr>
                        <a:defRPr sz="1000" b="1">
                          <a:solidFill>
                            <a:srgbClr val="FFFFFF"/>
                          </a:solidFill>
                          <a:latin typeface="Helvetica"/>
                        </a:defRPr>
                      </a:pPr>
                      <a:r>
                        <a:t>Fixed-Time</a:t>
                      </a:r>
                    </a:p>
                  </a:txBody>
                  <a:tcPr>
                    <a:solidFill>
                      <a:srgbClr val="0F172A"/>
                    </a:solidFill>
                  </a:tcPr>
                </a:tc>
                <a:tc>
                  <a:txBody>
                    <a:bodyPr/>
                    <a:lstStyle/>
                    <a:p>
                      <a:pPr>
                        <a:defRPr sz="1000" b="1">
                          <a:solidFill>
                            <a:srgbClr val="FFFFFF"/>
                          </a:solidFill>
                          <a:latin typeface="Helvetica"/>
                        </a:defRPr>
                      </a:pPr>
                      <a:r>
                        <a:t>CityMind Model A</a:t>
                      </a:r>
                    </a:p>
                  </a:txBody>
                  <a:tcPr>
                    <a:solidFill>
                      <a:srgbClr val="0F172A"/>
                    </a:solidFill>
                  </a:tcPr>
                </a:tc>
                <a:tc>
                  <a:txBody>
                    <a:bodyPr/>
                    <a:lstStyle/>
                    <a:p>
                      <a:pPr>
                        <a:defRPr sz="1000" b="1">
                          <a:solidFill>
                            <a:srgbClr val="FFFFFF"/>
                          </a:solidFill>
                          <a:latin typeface="Helvetica"/>
                        </a:defRPr>
                      </a:pPr>
                      <a:r>
                        <a:t>Difference (vs Base)</a:t>
                      </a:r>
                    </a:p>
                  </a:txBody>
                  <a:tcPr>
                    <a:solidFill>
                      <a:srgbClr val="0F172A"/>
                    </a:solidFill>
                  </a:tcPr>
                </a:tc>
                <a:tc>
                  <a:txBody>
                    <a:bodyPr/>
                    <a:lstStyle/>
                    <a:p>
                      <a:pPr>
                        <a:defRPr sz="1000" b="1">
                          <a:solidFill>
                            <a:srgbClr val="FFFFFF"/>
                          </a:solidFill>
                          <a:latin typeface="Helvetica"/>
                        </a:defRPr>
                      </a:pPr>
                      <a:r>
                        <a:t>Seeds Won</a:t>
                      </a:r>
                    </a:p>
                  </a:txBody>
                  <a:tcPr>
                    <a:solidFill>
                      <a:srgbClr val="0F172A"/>
                    </a:solidFill>
                  </a:tcPr>
                </a:tc>
                <a:tc>
                  <a:txBody>
                    <a:bodyPr/>
                    <a:lstStyle/>
                    <a:p>
                      <a:pPr>
                        <a:defRPr sz="1000" b="1">
                          <a:solidFill>
                            <a:srgbClr val="FFFFFF"/>
                          </a:solidFill>
                          <a:latin typeface="Helvetica"/>
                        </a:defRPr>
                      </a:pPr>
                      <a:r>
                        <a:t>Statistical Verdict</a:t>
                      </a:r>
                    </a:p>
                  </a:txBody>
                  <a:tcPr>
                    <a:solidFill>
                      <a:srgbClr val="0F172A"/>
                    </a:solidFill>
                  </a:tcPr>
                </a:tc>
              </a:tr>
              <a:tr h="401320">
                <a:tc>
                  <a:txBody>
                    <a:bodyPr/>
                    <a:lstStyle/>
                    <a:p>
                      <a:pPr>
                        <a:defRPr sz="900" b="1">
                          <a:solidFill>
                            <a:srgbClr val="0F172A"/>
                          </a:solidFill>
                          <a:latin typeface="Arial"/>
                        </a:defRPr>
                      </a:pPr>
                      <a:r>
                        <a:t>Lag per scheduled car (s)</a:t>
                      </a:r>
                    </a:p>
                  </a:txBody>
                  <a:tcPr>
                    <a:solidFill>
                      <a:srgbClr val="FFFFFF"/>
                    </a:solidFill>
                  </a:tcPr>
                </a:tc>
                <a:tc>
                  <a:txBody>
                    <a:bodyPr/>
                    <a:lstStyle/>
                    <a:p>
                      <a:pPr>
                        <a:defRPr sz="900">
                          <a:solidFill>
                            <a:srgbClr val="0F172A"/>
                          </a:solidFill>
                          <a:latin typeface="Arial"/>
                        </a:defRPr>
                      </a:pPr>
                      <a:r>
                        <a:t>276.8 s</a:t>
                      </a:r>
                    </a:p>
                  </a:txBody>
                  <a:tcPr>
                    <a:solidFill>
                      <a:srgbClr val="FFFFFF"/>
                    </a:solidFill>
                  </a:tcPr>
                </a:tc>
                <a:tc>
                  <a:txBody>
                    <a:bodyPr/>
                    <a:lstStyle/>
                    <a:p>
                      <a:pPr>
                        <a:defRPr sz="900">
                          <a:solidFill>
                            <a:srgbClr val="0F172A"/>
                          </a:solidFill>
                          <a:latin typeface="Arial"/>
                        </a:defRPr>
                      </a:pPr>
                      <a:r>
                        <a:t>298.7 s (+7.9%)</a:t>
                      </a:r>
                    </a:p>
                  </a:txBody>
                  <a:tcPr>
                    <a:solidFill>
                      <a:srgbClr val="FFFFFF"/>
                    </a:solidFill>
                  </a:tcPr>
                </a:tc>
                <a:tc>
                  <a:txBody>
                    <a:bodyPr/>
                    <a:lstStyle/>
                    <a:p>
                      <a:pPr>
                        <a:defRPr sz="900">
                          <a:solidFill>
                            <a:srgbClr val="0F172A"/>
                          </a:solidFill>
                          <a:latin typeface="Arial"/>
                        </a:defRPr>
                      </a:pPr>
                      <a:r>
                        <a:t>235.4 s</a:t>
                      </a:r>
                    </a:p>
                  </a:txBody>
                  <a:tcPr>
                    <a:solidFill>
                      <a:srgbClr val="FFFFFF"/>
                    </a:solidFill>
                  </a:tcPr>
                </a:tc>
                <a:tc>
                  <a:txBody>
                    <a:bodyPr/>
                    <a:lstStyle/>
                    <a:p>
                      <a:pPr>
                        <a:defRPr sz="900" b="1">
                          <a:solidFill>
                            <a:srgbClr val="10B981"/>
                          </a:solidFill>
                          <a:latin typeface="Arial"/>
                        </a:defRPr>
                      </a:pPr>
                      <a:r>
                        <a:t>-41.4 s (-15.0%)</a:t>
                      </a:r>
                    </a:p>
                  </a:txBody>
                  <a:tcPr>
                    <a:solidFill>
                      <a:srgbClr val="FFFFFF"/>
                    </a:solidFill>
                  </a:tcPr>
                </a:tc>
                <a:tc>
                  <a:txBody>
                    <a:bodyPr/>
                    <a:lstStyle/>
                    <a:p>
                      <a:pPr>
                        <a:defRPr sz="900">
                          <a:solidFill>
                            <a:srgbClr val="0F172A"/>
                          </a:solidFill>
                          <a:latin typeface="Arial"/>
                        </a:defRPr>
                      </a:pPr>
                      <a:r>
                        <a:t>10 / 10</a:t>
                      </a:r>
                    </a:p>
                  </a:txBody>
                  <a:tcPr>
                    <a:solidFill>
                      <a:srgbClr val="FFFFFF"/>
                    </a:solidFill>
                  </a:tcPr>
                </a:tc>
                <a:tc>
                  <a:txBody>
                    <a:bodyPr/>
                    <a:lstStyle/>
                    <a:p>
                      <a:pPr>
                        <a:defRPr sz="900" b="1">
                          <a:solidFill>
                            <a:srgbClr val="10B981"/>
                          </a:solidFill>
                          <a:latin typeface="Arial"/>
                        </a:defRPr>
                      </a:pPr>
                      <a:r>
                        <a:t>BEATEN (p=0.002)</a:t>
                      </a:r>
                    </a:p>
                  </a:txBody>
                  <a:tcPr>
                    <a:solidFill>
                      <a:srgbClr val="FFFFFF"/>
                    </a:solidFill>
                  </a:tcPr>
                </a:tc>
              </a:tr>
              <a:tr h="401320">
                <a:tc>
                  <a:txBody>
                    <a:bodyPr/>
                    <a:lstStyle/>
                    <a:p>
                      <a:pPr>
                        <a:defRPr sz="900" b="1">
                          <a:solidFill>
                            <a:srgbClr val="0F172A"/>
                          </a:solidFill>
                          <a:latin typeface="Arial"/>
                        </a:defRPr>
                      </a:pPr>
                      <a:r>
                        <a:t>Time loss per finished car (s)</a:t>
                      </a:r>
                    </a:p>
                  </a:txBody>
                  <a:tcPr>
                    <a:solidFill>
                      <a:srgbClr val="F1F5F9"/>
                    </a:solidFill>
                  </a:tcPr>
                </a:tc>
                <a:tc>
                  <a:txBody>
                    <a:bodyPr/>
                    <a:lstStyle/>
                    <a:p>
                      <a:pPr>
                        <a:defRPr sz="900">
                          <a:solidFill>
                            <a:srgbClr val="0F172A"/>
                          </a:solidFill>
                          <a:latin typeface="Arial"/>
                        </a:defRPr>
                      </a:pPr>
                      <a:r>
                        <a:t>336.6 s</a:t>
                      </a:r>
                    </a:p>
                  </a:txBody>
                  <a:tcPr>
                    <a:solidFill>
                      <a:srgbClr val="F1F5F9"/>
                    </a:solidFill>
                  </a:tcPr>
                </a:tc>
                <a:tc>
                  <a:txBody>
                    <a:bodyPr/>
                    <a:lstStyle/>
                    <a:p>
                      <a:pPr>
                        <a:defRPr sz="900">
                          <a:solidFill>
                            <a:srgbClr val="0F172A"/>
                          </a:solidFill>
                          <a:latin typeface="Arial"/>
                        </a:defRPr>
                      </a:pPr>
                      <a:r>
                        <a:t>363.5 s (+8.0%)</a:t>
                      </a:r>
                    </a:p>
                  </a:txBody>
                  <a:tcPr>
                    <a:solidFill>
                      <a:srgbClr val="F1F5F9"/>
                    </a:solidFill>
                  </a:tcPr>
                </a:tc>
                <a:tc>
                  <a:txBody>
                    <a:bodyPr/>
                    <a:lstStyle/>
                    <a:p>
                      <a:pPr>
                        <a:defRPr sz="900">
                          <a:solidFill>
                            <a:srgbClr val="0F172A"/>
                          </a:solidFill>
                          <a:latin typeface="Arial"/>
                        </a:defRPr>
                      </a:pPr>
                      <a:r>
                        <a:t>286.4 s</a:t>
                      </a:r>
                    </a:p>
                  </a:txBody>
                  <a:tcPr>
                    <a:solidFill>
                      <a:srgbClr val="F1F5F9"/>
                    </a:solidFill>
                  </a:tcPr>
                </a:tc>
                <a:tc>
                  <a:txBody>
                    <a:bodyPr/>
                    <a:lstStyle/>
                    <a:p>
                      <a:pPr>
                        <a:defRPr sz="900" b="1">
                          <a:solidFill>
                            <a:srgbClr val="10B981"/>
                          </a:solidFill>
                          <a:latin typeface="Arial"/>
                        </a:defRPr>
                      </a:pPr>
                      <a:r>
                        <a:t>-50.2 s (-14.9%)</a:t>
                      </a:r>
                    </a:p>
                  </a:txBody>
                  <a:tcPr>
                    <a:solidFill>
                      <a:srgbClr val="F1F5F9"/>
                    </a:solidFill>
                  </a:tcPr>
                </a:tc>
                <a:tc>
                  <a:txBody>
                    <a:bodyPr/>
                    <a:lstStyle/>
                    <a:p>
                      <a:pPr>
                        <a:defRPr sz="900">
                          <a:solidFill>
                            <a:srgbClr val="0F172A"/>
                          </a:solidFill>
                          <a:latin typeface="Arial"/>
                        </a:defRPr>
                      </a:pPr>
                      <a:r>
                        <a:t>10 / 10</a:t>
                      </a:r>
                    </a:p>
                  </a:txBody>
                  <a:tcPr>
                    <a:solidFill>
                      <a:srgbClr val="F1F5F9"/>
                    </a:solidFill>
                  </a:tcPr>
                </a:tc>
                <a:tc>
                  <a:txBody>
                    <a:bodyPr/>
                    <a:lstStyle/>
                    <a:p>
                      <a:pPr>
                        <a:defRPr sz="900" b="1">
                          <a:solidFill>
                            <a:srgbClr val="10B981"/>
                          </a:solidFill>
                          <a:latin typeface="Arial"/>
                        </a:defRPr>
                      </a:pPr>
                      <a:r>
                        <a:t>BEATEN (p=0.002)</a:t>
                      </a:r>
                    </a:p>
                  </a:txBody>
                  <a:tcPr>
                    <a:solidFill>
                      <a:srgbClr val="F1F5F9"/>
                    </a:solidFill>
                  </a:tcPr>
                </a:tc>
              </a:tr>
              <a:tr h="401320">
                <a:tc>
                  <a:txBody>
                    <a:bodyPr/>
                    <a:lstStyle/>
                    <a:p>
                      <a:pPr>
                        <a:defRPr sz="900" b="1">
                          <a:solidFill>
                            <a:srgbClr val="0F172A"/>
                          </a:solidFill>
                          <a:latin typeface="Arial"/>
                        </a:defRPr>
                      </a:pPr>
                      <a:r>
                        <a:t>Mean waiting time (s)</a:t>
                      </a:r>
                    </a:p>
                  </a:txBody>
                  <a:tcPr>
                    <a:solidFill>
                      <a:srgbClr val="FFFFFF"/>
                    </a:solidFill>
                  </a:tcPr>
                </a:tc>
                <a:tc>
                  <a:txBody>
                    <a:bodyPr/>
                    <a:lstStyle/>
                    <a:p>
                      <a:pPr>
                        <a:defRPr sz="900">
                          <a:solidFill>
                            <a:srgbClr val="0F172A"/>
                          </a:solidFill>
                          <a:latin typeface="Arial"/>
                        </a:defRPr>
                      </a:pPr>
                      <a:r>
                        <a:t>6.39 s</a:t>
                      </a:r>
                    </a:p>
                  </a:txBody>
                  <a:tcPr>
                    <a:solidFill>
                      <a:srgbClr val="FFFFFF"/>
                    </a:solidFill>
                  </a:tcPr>
                </a:tc>
                <a:tc>
                  <a:txBody>
                    <a:bodyPr/>
                    <a:lstStyle/>
                    <a:p>
                      <a:pPr>
                        <a:defRPr sz="900">
                          <a:solidFill>
                            <a:srgbClr val="0F172A"/>
                          </a:solidFill>
                          <a:latin typeface="Arial"/>
                        </a:defRPr>
                      </a:pPr>
                      <a:r>
                        <a:t>7.14 s (+11.7%)</a:t>
                      </a:r>
                    </a:p>
                  </a:txBody>
                  <a:tcPr>
                    <a:solidFill>
                      <a:srgbClr val="FFFFFF"/>
                    </a:solidFill>
                  </a:tcPr>
                </a:tc>
                <a:tc>
                  <a:txBody>
                    <a:bodyPr/>
                    <a:lstStyle/>
                    <a:p>
                      <a:pPr>
                        <a:defRPr sz="900">
                          <a:solidFill>
                            <a:srgbClr val="0F172A"/>
                          </a:solidFill>
                          <a:latin typeface="Arial"/>
                        </a:defRPr>
                      </a:pPr>
                      <a:r>
                        <a:t>3.77 s</a:t>
                      </a:r>
                    </a:p>
                  </a:txBody>
                  <a:tcPr>
                    <a:solidFill>
                      <a:srgbClr val="FFFFFF"/>
                    </a:solidFill>
                  </a:tcPr>
                </a:tc>
                <a:tc>
                  <a:txBody>
                    <a:bodyPr/>
                    <a:lstStyle/>
                    <a:p>
                      <a:pPr>
                        <a:defRPr sz="900" b="1">
                          <a:solidFill>
                            <a:srgbClr val="10B981"/>
                          </a:solidFill>
                          <a:latin typeface="Arial"/>
                        </a:defRPr>
                      </a:pPr>
                      <a:r>
                        <a:t>-2.63 s (-41.1%)</a:t>
                      </a:r>
                    </a:p>
                  </a:txBody>
                  <a:tcPr>
                    <a:solidFill>
                      <a:srgbClr val="FFFFFF"/>
                    </a:solidFill>
                  </a:tcPr>
                </a:tc>
                <a:tc>
                  <a:txBody>
                    <a:bodyPr/>
                    <a:lstStyle/>
                    <a:p>
                      <a:pPr>
                        <a:defRPr sz="900">
                          <a:solidFill>
                            <a:srgbClr val="0F172A"/>
                          </a:solidFill>
                          <a:latin typeface="Arial"/>
                        </a:defRPr>
                      </a:pPr>
                      <a:r>
                        <a:t>10 / 10</a:t>
                      </a:r>
                    </a:p>
                  </a:txBody>
                  <a:tcPr>
                    <a:solidFill>
                      <a:srgbClr val="FFFFFF"/>
                    </a:solidFill>
                  </a:tcPr>
                </a:tc>
                <a:tc>
                  <a:txBody>
                    <a:bodyPr/>
                    <a:lstStyle/>
                    <a:p>
                      <a:pPr>
                        <a:defRPr sz="900" b="1">
                          <a:solidFill>
                            <a:srgbClr val="10B981"/>
                          </a:solidFill>
                          <a:latin typeface="Arial"/>
                        </a:defRPr>
                      </a:pPr>
                      <a:r>
                        <a:t>BEATEN (p=0.002)</a:t>
                      </a:r>
                    </a:p>
                  </a:txBody>
                  <a:tcPr>
                    <a:solidFill>
                      <a:srgbClr val="FFFFFF"/>
                    </a:solidFill>
                  </a:tcPr>
                </a:tc>
              </a:tr>
              <a:tr h="401320">
                <a:tc>
                  <a:txBody>
                    <a:bodyPr/>
                    <a:lstStyle/>
                    <a:p>
                      <a:pPr>
                        <a:defRPr sz="900" b="1">
                          <a:solidFill>
                            <a:srgbClr val="0F172A"/>
                          </a:solidFill>
                          <a:latin typeface="Arial"/>
                        </a:defRPr>
                      </a:pPr>
                      <a:r>
                        <a:t>Backlog at 08:00 (cars)</a:t>
                      </a:r>
                    </a:p>
                  </a:txBody>
                  <a:tcPr>
                    <a:solidFill>
                      <a:srgbClr val="F1F5F9"/>
                    </a:solidFill>
                  </a:tcPr>
                </a:tc>
                <a:tc>
                  <a:txBody>
                    <a:bodyPr/>
                    <a:lstStyle/>
                    <a:p>
                      <a:pPr>
                        <a:defRPr sz="900">
                          <a:solidFill>
                            <a:srgbClr val="0F172A"/>
                          </a:solidFill>
                          <a:latin typeface="Arial"/>
                        </a:defRPr>
                      </a:pPr>
                      <a:r>
                        <a:t>3,108 cars</a:t>
                      </a:r>
                    </a:p>
                  </a:txBody>
                  <a:tcPr>
                    <a:solidFill>
                      <a:srgbClr val="F1F5F9"/>
                    </a:solidFill>
                  </a:tcPr>
                </a:tc>
                <a:tc>
                  <a:txBody>
                    <a:bodyPr/>
                    <a:lstStyle/>
                    <a:p>
                      <a:pPr>
                        <a:defRPr sz="900">
                          <a:solidFill>
                            <a:srgbClr val="0F172A"/>
                          </a:solidFill>
                          <a:latin typeface="Arial"/>
                        </a:defRPr>
                      </a:pPr>
                      <a:r>
                        <a:t>3,297 cars</a:t>
                      </a:r>
                    </a:p>
                  </a:txBody>
                  <a:tcPr>
                    <a:solidFill>
                      <a:srgbClr val="F1F5F9"/>
                    </a:solidFill>
                  </a:tcPr>
                </a:tc>
                <a:tc>
                  <a:txBody>
                    <a:bodyPr/>
                    <a:lstStyle/>
                    <a:p>
                      <a:pPr>
                        <a:defRPr sz="900">
                          <a:solidFill>
                            <a:srgbClr val="0F172A"/>
                          </a:solidFill>
                          <a:latin typeface="Arial"/>
                        </a:defRPr>
                      </a:pPr>
                      <a:r>
                        <a:t>2,852 cars</a:t>
                      </a:r>
                    </a:p>
                  </a:txBody>
                  <a:tcPr>
                    <a:solidFill>
                      <a:srgbClr val="F1F5F9"/>
                    </a:solidFill>
                  </a:tcPr>
                </a:tc>
                <a:tc>
                  <a:txBody>
                    <a:bodyPr/>
                    <a:lstStyle/>
                    <a:p>
                      <a:pPr>
                        <a:defRPr sz="900" b="1">
                          <a:solidFill>
                            <a:srgbClr val="10B981"/>
                          </a:solidFill>
                          <a:latin typeface="Arial"/>
                        </a:defRPr>
                      </a:pPr>
                      <a:r>
                        <a:t>-256 cars (-8.2%)</a:t>
                      </a:r>
                    </a:p>
                  </a:txBody>
                  <a:tcPr>
                    <a:solidFill>
                      <a:srgbClr val="F1F5F9"/>
                    </a:solidFill>
                  </a:tcPr>
                </a:tc>
                <a:tc>
                  <a:txBody>
                    <a:bodyPr/>
                    <a:lstStyle/>
                    <a:p>
                      <a:pPr>
                        <a:defRPr sz="900">
                          <a:solidFill>
                            <a:srgbClr val="0F172A"/>
                          </a:solidFill>
                          <a:latin typeface="Arial"/>
                        </a:defRPr>
                      </a:pPr>
                      <a:r>
                        <a:t>10 / 10</a:t>
                      </a:r>
                    </a:p>
                  </a:txBody>
                  <a:tcPr>
                    <a:solidFill>
                      <a:srgbClr val="F1F5F9"/>
                    </a:solidFill>
                  </a:tcPr>
                </a:tc>
                <a:tc>
                  <a:txBody>
                    <a:bodyPr/>
                    <a:lstStyle/>
                    <a:p>
                      <a:pPr>
                        <a:defRPr sz="900" b="1">
                          <a:solidFill>
                            <a:srgbClr val="10B981"/>
                          </a:solidFill>
                          <a:latin typeface="Arial"/>
                        </a:defRPr>
                      </a:pPr>
                      <a:r>
                        <a:t>BEATEN (p=0.002)</a:t>
                      </a:r>
                    </a:p>
                  </a:txBody>
                  <a:tcPr>
                    <a:solidFill>
                      <a:srgbClr val="F1F5F9"/>
                    </a:solidFill>
                  </a:tcPr>
                </a:tc>
              </a:tr>
              <a:tr h="401320">
                <a:tc>
                  <a:txBody>
                    <a:bodyPr/>
                    <a:lstStyle/>
                    <a:p>
                      <a:pPr>
                        <a:defRPr sz="900" b="1">
                          <a:solidFill>
                            <a:srgbClr val="0F172A"/>
                          </a:solidFill>
                          <a:latin typeface="Arial"/>
                        </a:defRPr>
                      </a:pPr>
                      <a:r>
                        <a:t>Mean queue length (cars)</a:t>
                      </a:r>
                    </a:p>
                  </a:txBody>
                  <a:tcPr>
                    <a:solidFill>
                      <a:srgbClr val="FFFFFF"/>
                    </a:solidFill>
                  </a:tcPr>
                </a:tc>
                <a:tc>
                  <a:txBody>
                    <a:bodyPr/>
                    <a:lstStyle/>
                    <a:p>
                      <a:pPr>
                        <a:defRPr sz="900">
                          <a:solidFill>
                            <a:srgbClr val="0F172A"/>
                          </a:solidFill>
                          <a:latin typeface="Arial"/>
                        </a:defRPr>
                      </a:pPr>
                      <a:r>
                        <a:t>0.440</a:t>
                      </a:r>
                    </a:p>
                  </a:txBody>
                  <a:tcPr>
                    <a:solidFill>
                      <a:srgbClr val="FFFFFF"/>
                    </a:solidFill>
                  </a:tcPr>
                </a:tc>
                <a:tc>
                  <a:txBody>
                    <a:bodyPr/>
                    <a:lstStyle/>
                    <a:p>
                      <a:pPr>
                        <a:defRPr sz="900">
                          <a:solidFill>
                            <a:srgbClr val="0F172A"/>
                          </a:solidFill>
                          <a:latin typeface="Arial"/>
                        </a:defRPr>
                      </a:pPr>
                      <a:r>
                        <a:t>0.492 (+11.8%)</a:t>
                      </a:r>
                    </a:p>
                  </a:txBody>
                  <a:tcPr>
                    <a:solidFill>
                      <a:srgbClr val="FFFFFF"/>
                    </a:solidFill>
                  </a:tcPr>
                </a:tc>
                <a:tc>
                  <a:txBody>
                    <a:bodyPr/>
                    <a:lstStyle/>
                    <a:p>
                      <a:pPr>
                        <a:defRPr sz="900">
                          <a:solidFill>
                            <a:srgbClr val="0F172A"/>
                          </a:solidFill>
                          <a:latin typeface="Arial"/>
                        </a:defRPr>
                      </a:pPr>
                      <a:r>
                        <a:t>0.318</a:t>
                      </a:r>
                    </a:p>
                  </a:txBody>
                  <a:tcPr>
                    <a:solidFill>
                      <a:srgbClr val="FFFFFF"/>
                    </a:solidFill>
                  </a:tcPr>
                </a:tc>
                <a:tc>
                  <a:txBody>
                    <a:bodyPr/>
                    <a:lstStyle/>
                    <a:p>
                      <a:pPr>
                        <a:defRPr sz="900" b="1">
                          <a:solidFill>
                            <a:srgbClr val="10B981"/>
                          </a:solidFill>
                          <a:latin typeface="Arial"/>
                        </a:defRPr>
                      </a:pPr>
                      <a:r>
                        <a:t>-0.123 (-27.9%)</a:t>
                      </a:r>
                    </a:p>
                  </a:txBody>
                  <a:tcPr>
                    <a:solidFill>
                      <a:srgbClr val="FFFFFF"/>
                    </a:solidFill>
                  </a:tcPr>
                </a:tc>
                <a:tc>
                  <a:txBody>
                    <a:bodyPr/>
                    <a:lstStyle/>
                    <a:p>
                      <a:pPr>
                        <a:defRPr sz="900">
                          <a:solidFill>
                            <a:srgbClr val="0F172A"/>
                          </a:solidFill>
                          <a:latin typeface="Arial"/>
                        </a:defRPr>
                      </a:pPr>
                      <a:r>
                        <a:t>10 / 10</a:t>
                      </a:r>
                    </a:p>
                  </a:txBody>
                  <a:tcPr>
                    <a:solidFill>
                      <a:srgbClr val="FFFFFF"/>
                    </a:solidFill>
                  </a:tcPr>
                </a:tc>
                <a:tc>
                  <a:txBody>
                    <a:bodyPr/>
                    <a:lstStyle/>
                    <a:p>
                      <a:pPr>
                        <a:defRPr sz="900" b="1">
                          <a:solidFill>
                            <a:srgbClr val="10B981"/>
                          </a:solidFill>
                          <a:latin typeface="Arial"/>
                        </a:defRPr>
                      </a:pPr>
                      <a:r>
                        <a:t>BEATEN (p=0.002)</a:t>
                      </a:r>
                    </a:p>
                  </a:txBody>
                  <a:tcPr>
                    <a:solidFill>
                      <a:srgbClr val="FFFFFF"/>
                    </a:solidFill>
                  </a:tcPr>
                </a:tc>
              </a:tr>
              <a:tr h="401320">
                <a:tc>
                  <a:txBody>
                    <a:bodyPr/>
                    <a:lstStyle/>
                    <a:p>
                      <a:pPr>
                        <a:defRPr sz="900" b="1">
                          <a:solidFill>
                            <a:srgbClr val="0F172A"/>
                          </a:solidFill>
                          <a:latin typeface="Arial"/>
                        </a:defRPr>
                      </a:pPr>
                      <a:r>
                        <a:t>Mean vehicle speed (m/s)</a:t>
                      </a:r>
                    </a:p>
                  </a:txBody>
                  <a:tcPr>
                    <a:solidFill>
                      <a:srgbClr val="F1F5F9"/>
                    </a:solidFill>
                  </a:tcPr>
                </a:tc>
                <a:tc>
                  <a:txBody>
                    <a:bodyPr/>
                    <a:lstStyle/>
                    <a:p>
                      <a:pPr>
                        <a:defRPr sz="900">
                          <a:solidFill>
                            <a:srgbClr val="0F172A"/>
                          </a:solidFill>
                          <a:latin typeface="Arial"/>
                        </a:defRPr>
                      </a:pPr>
                      <a:r>
                        <a:t>8.70 m/s</a:t>
                      </a:r>
                    </a:p>
                  </a:txBody>
                  <a:tcPr>
                    <a:solidFill>
                      <a:srgbClr val="F1F5F9"/>
                    </a:solidFill>
                  </a:tcPr>
                </a:tc>
                <a:tc>
                  <a:txBody>
                    <a:bodyPr/>
                    <a:lstStyle/>
                    <a:p>
                      <a:pPr>
                        <a:defRPr sz="900">
                          <a:solidFill>
                            <a:srgbClr val="0F172A"/>
                          </a:solidFill>
                          <a:latin typeface="Arial"/>
                        </a:defRPr>
                      </a:pPr>
                      <a:r>
                        <a:t>8.40 m/s (-3.4%)</a:t>
                      </a:r>
                    </a:p>
                  </a:txBody>
                  <a:tcPr>
                    <a:solidFill>
                      <a:srgbClr val="F1F5F9"/>
                    </a:solidFill>
                  </a:tcPr>
                </a:tc>
                <a:tc>
                  <a:txBody>
                    <a:bodyPr/>
                    <a:lstStyle/>
                    <a:p>
                      <a:pPr>
                        <a:defRPr sz="900">
                          <a:solidFill>
                            <a:srgbClr val="0F172A"/>
                          </a:solidFill>
                          <a:latin typeface="Arial"/>
                        </a:defRPr>
                      </a:pPr>
                      <a:r>
                        <a:t>9.37 m/s</a:t>
                      </a:r>
                    </a:p>
                  </a:txBody>
                  <a:tcPr>
                    <a:solidFill>
                      <a:srgbClr val="F1F5F9"/>
                    </a:solidFill>
                  </a:tcPr>
                </a:tc>
                <a:tc>
                  <a:txBody>
                    <a:bodyPr/>
                    <a:lstStyle/>
                    <a:p>
                      <a:pPr>
                        <a:defRPr sz="900" b="1">
                          <a:solidFill>
                            <a:srgbClr val="10B981"/>
                          </a:solidFill>
                          <a:latin typeface="Arial"/>
                        </a:defRPr>
                      </a:pPr>
                      <a:r>
                        <a:t>+0.68 m/s (+7.8%)</a:t>
                      </a:r>
                    </a:p>
                  </a:txBody>
                  <a:tcPr>
                    <a:solidFill>
                      <a:srgbClr val="F1F5F9"/>
                    </a:solidFill>
                  </a:tcPr>
                </a:tc>
                <a:tc>
                  <a:txBody>
                    <a:bodyPr/>
                    <a:lstStyle/>
                    <a:p>
                      <a:pPr>
                        <a:defRPr sz="900">
                          <a:solidFill>
                            <a:srgbClr val="0F172A"/>
                          </a:solidFill>
                          <a:latin typeface="Arial"/>
                        </a:defRPr>
                      </a:pPr>
                      <a:r>
                        <a:t>10 / 10</a:t>
                      </a:r>
                    </a:p>
                  </a:txBody>
                  <a:tcPr>
                    <a:solidFill>
                      <a:srgbClr val="F1F5F9"/>
                    </a:solidFill>
                  </a:tcPr>
                </a:tc>
                <a:tc>
                  <a:txBody>
                    <a:bodyPr/>
                    <a:lstStyle/>
                    <a:p>
                      <a:pPr>
                        <a:defRPr sz="900" b="1">
                          <a:solidFill>
                            <a:srgbClr val="10B981"/>
                          </a:solidFill>
                          <a:latin typeface="Arial"/>
                        </a:defRPr>
                      </a:pPr>
                      <a:r>
                        <a:t>BEATEN (p=0.002)</a:t>
                      </a:r>
                    </a:p>
                  </a:txBody>
                  <a:tcPr>
                    <a:solidFill>
                      <a:srgbClr val="F1F5F9"/>
                    </a:solidFill>
                  </a:tcPr>
                </a:tc>
              </a:tr>
              <a:tr h="401320">
                <a:tc>
                  <a:txBody>
                    <a:bodyPr/>
                    <a:lstStyle/>
                    <a:p>
                      <a:pPr>
                        <a:defRPr sz="900" b="1">
                          <a:solidFill>
                            <a:srgbClr val="0F172A"/>
                          </a:solidFill>
                          <a:latin typeface="Arial"/>
                        </a:defRPr>
                      </a:pPr>
                      <a:r>
                        <a:t>Trips completed (vehicles)</a:t>
                      </a:r>
                    </a:p>
                  </a:txBody>
                  <a:tcPr>
                    <a:solidFill>
                      <a:srgbClr val="FFFFFF"/>
                    </a:solidFill>
                  </a:tcPr>
                </a:tc>
                <a:tc>
                  <a:txBody>
                    <a:bodyPr/>
                    <a:lstStyle/>
                    <a:p>
                      <a:pPr>
                        <a:defRPr sz="900">
                          <a:solidFill>
                            <a:srgbClr val="0F172A"/>
                          </a:solidFill>
                          <a:latin typeface="Arial"/>
                        </a:defRPr>
                      </a:pPr>
                      <a:r>
                        <a:t>11,585</a:t>
                      </a:r>
                    </a:p>
                  </a:txBody>
                  <a:tcPr>
                    <a:solidFill>
                      <a:srgbClr val="FFFFFF"/>
                    </a:solidFill>
                  </a:tcPr>
                </a:tc>
                <a:tc>
                  <a:txBody>
                    <a:bodyPr/>
                    <a:lstStyle/>
                    <a:p>
                      <a:pPr>
                        <a:defRPr sz="900">
                          <a:solidFill>
                            <a:srgbClr val="0F172A"/>
                          </a:solidFill>
                          <a:latin typeface="Arial"/>
                        </a:defRPr>
                      </a:pPr>
                      <a:r>
                        <a:t>11,432 (-152)</a:t>
                      </a:r>
                    </a:p>
                  </a:txBody>
                  <a:tcPr>
                    <a:solidFill>
                      <a:srgbClr val="FFFFFF"/>
                    </a:solidFill>
                  </a:tcPr>
                </a:tc>
                <a:tc>
                  <a:txBody>
                    <a:bodyPr/>
                    <a:lstStyle/>
                    <a:p>
                      <a:pPr>
                        <a:defRPr sz="900">
                          <a:solidFill>
                            <a:srgbClr val="0F172A"/>
                          </a:solidFill>
                          <a:latin typeface="Arial"/>
                        </a:defRPr>
                      </a:pPr>
                      <a:r>
                        <a:t>11,842</a:t>
                      </a:r>
                    </a:p>
                  </a:txBody>
                  <a:tcPr>
                    <a:solidFill>
                      <a:srgbClr val="FFFFFF"/>
                    </a:solidFill>
                  </a:tcPr>
                </a:tc>
                <a:tc>
                  <a:txBody>
                    <a:bodyPr/>
                    <a:lstStyle/>
                    <a:p>
                      <a:pPr>
                        <a:defRPr sz="900" b="1">
                          <a:solidFill>
                            <a:srgbClr val="10B981"/>
                          </a:solidFill>
                          <a:latin typeface="Arial"/>
                        </a:defRPr>
                      </a:pPr>
                      <a:r>
                        <a:t>+258 cars (+2.2%)</a:t>
                      </a:r>
                    </a:p>
                  </a:txBody>
                  <a:tcPr>
                    <a:solidFill>
                      <a:srgbClr val="FFFFFF"/>
                    </a:solidFill>
                  </a:tcPr>
                </a:tc>
                <a:tc>
                  <a:txBody>
                    <a:bodyPr/>
                    <a:lstStyle/>
                    <a:p>
                      <a:pPr>
                        <a:defRPr sz="900">
                          <a:solidFill>
                            <a:srgbClr val="0F172A"/>
                          </a:solidFill>
                          <a:latin typeface="Arial"/>
                        </a:defRPr>
                      </a:pPr>
                      <a:r>
                        <a:t>10 / 10</a:t>
                      </a:r>
                    </a:p>
                  </a:txBody>
                  <a:tcPr>
                    <a:solidFill>
                      <a:srgbClr val="FFFFFF"/>
                    </a:solidFill>
                  </a:tcPr>
                </a:tc>
                <a:tc>
                  <a:txBody>
                    <a:bodyPr/>
                    <a:lstStyle/>
                    <a:p>
                      <a:pPr>
                        <a:defRPr sz="900" b="1">
                          <a:solidFill>
                            <a:srgbClr val="10B981"/>
                          </a:solidFill>
                          <a:latin typeface="Arial"/>
                        </a:defRPr>
                      </a:pPr>
                      <a:r>
                        <a:t>BEATEN (p=0.002)</a:t>
                      </a:r>
                    </a:p>
                  </a:txBody>
                  <a:tcPr>
                    <a:solidFill>
                      <a:srgbClr val="FFFFFF"/>
                    </a:solidFill>
                  </a:tcPr>
                </a:tc>
              </a:tr>
              <a:tr h="401320">
                <a:tc>
                  <a:txBody>
                    <a:bodyPr/>
                    <a:lstStyle/>
                    <a:p>
                      <a:pPr>
                        <a:defRPr sz="900" b="1">
                          <a:solidFill>
                            <a:srgbClr val="0F172A"/>
                          </a:solidFill>
                          <a:latin typeface="Arial"/>
                        </a:defRPr>
                      </a:pPr>
                      <a:r>
                        <a:t>Depart delay (s)</a:t>
                      </a:r>
                    </a:p>
                  </a:txBody>
                  <a:tcPr>
                    <a:solidFill>
                      <a:srgbClr val="F1F5F9"/>
                    </a:solidFill>
                  </a:tcPr>
                </a:tc>
                <a:tc>
                  <a:txBody>
                    <a:bodyPr/>
                    <a:lstStyle/>
                    <a:p>
                      <a:pPr>
                        <a:defRPr sz="900">
                          <a:solidFill>
                            <a:srgbClr val="0F172A"/>
                          </a:solidFill>
                          <a:latin typeface="Arial"/>
                        </a:defRPr>
                      </a:pPr>
                      <a:r>
                        <a:t>15.7 s</a:t>
                      </a:r>
                    </a:p>
                  </a:txBody>
                  <a:tcPr>
                    <a:solidFill>
                      <a:srgbClr val="F1F5F9"/>
                    </a:solidFill>
                  </a:tcPr>
                </a:tc>
                <a:tc>
                  <a:txBody>
                    <a:bodyPr/>
                    <a:lstStyle/>
                    <a:p>
                      <a:pPr>
                        <a:defRPr sz="900">
                          <a:solidFill>
                            <a:srgbClr val="0F172A"/>
                          </a:solidFill>
                          <a:latin typeface="Arial"/>
                        </a:defRPr>
                      </a:pPr>
                      <a:r>
                        <a:t>15.3 s</a:t>
                      </a:r>
                    </a:p>
                  </a:txBody>
                  <a:tcPr>
                    <a:solidFill>
                      <a:srgbClr val="F1F5F9"/>
                    </a:solidFill>
                  </a:tcPr>
                </a:tc>
                <a:tc>
                  <a:txBody>
                    <a:bodyPr/>
                    <a:lstStyle/>
                    <a:p>
                      <a:pPr>
                        <a:defRPr sz="900">
                          <a:solidFill>
                            <a:srgbClr val="0F172A"/>
                          </a:solidFill>
                          <a:latin typeface="Arial"/>
                        </a:defRPr>
                      </a:pPr>
                      <a:r>
                        <a:t>14.1 s</a:t>
                      </a:r>
                    </a:p>
                  </a:txBody>
                  <a:tcPr>
                    <a:solidFill>
                      <a:srgbClr val="F1F5F9"/>
                    </a:solidFill>
                  </a:tcPr>
                </a:tc>
                <a:tc>
                  <a:txBody>
                    <a:bodyPr/>
                    <a:lstStyle/>
                    <a:p>
                      <a:pPr>
                        <a:defRPr sz="900" b="1">
                          <a:solidFill>
                            <a:srgbClr val="10B981"/>
                          </a:solidFill>
                          <a:latin typeface="Arial"/>
                        </a:defRPr>
                      </a:pPr>
                      <a:r>
                        <a:t>-1.59 s (-10.2%)</a:t>
                      </a:r>
                    </a:p>
                  </a:txBody>
                  <a:tcPr>
                    <a:solidFill>
                      <a:srgbClr val="F1F5F9"/>
                    </a:solidFill>
                  </a:tcPr>
                </a:tc>
                <a:tc>
                  <a:txBody>
                    <a:bodyPr/>
                    <a:lstStyle/>
                    <a:p>
                      <a:pPr>
                        <a:defRPr sz="900">
                          <a:solidFill>
                            <a:srgbClr val="0F172A"/>
                          </a:solidFill>
                          <a:latin typeface="Arial"/>
                        </a:defRPr>
                      </a:pPr>
                      <a:r>
                        <a:t>10 / 10</a:t>
                      </a:r>
                    </a:p>
                  </a:txBody>
                  <a:tcPr>
                    <a:solidFill>
                      <a:srgbClr val="F1F5F9"/>
                    </a:solidFill>
                  </a:tcPr>
                </a:tc>
                <a:tc>
                  <a:txBody>
                    <a:bodyPr/>
                    <a:lstStyle/>
                    <a:p>
                      <a:pPr>
                        <a:defRPr sz="900" b="1">
                          <a:solidFill>
                            <a:srgbClr val="10B981"/>
                          </a:solidFill>
                          <a:latin typeface="Arial"/>
                        </a:defRPr>
                      </a:pPr>
                      <a:r>
                        <a:t>BEATEN (p=0.002)</a:t>
                      </a:r>
                    </a:p>
                  </a:txBody>
                  <a:tcPr>
                    <a:solidFill>
                      <a:srgbClr val="F1F5F9"/>
                    </a:solidFill>
                  </a:tcPr>
                </a:tc>
              </a:tr>
            </a:tbl>
          </a:graphicData>
        </a:graphic>
      </p:graphicFrame>
      <p:sp>
        <p:nvSpPr>
          <p:cNvPr id="7" name="Rounded Rectangle 6"/>
          <p:cNvSpPr/>
          <p:nvPr/>
        </p:nvSpPr>
        <p:spPr>
          <a:xfrm>
            <a:off x="731520" y="5532120"/>
            <a:ext cx="10728655" cy="914400"/>
          </a:xfrm>
          <a:prstGeom prst="roundRect">
            <a:avLst/>
          </a:prstGeom>
          <a:solidFill>
            <a:srgbClr val="F0FDF4"/>
          </a:solidFill>
          <a:ln w="15240">
            <a:solidFill>
              <a:srgbClr val="BBF7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5605272"/>
            <a:ext cx="10454335" cy="768096"/>
          </a:xfrm>
          <a:prstGeom prst="rect">
            <a:avLst/>
          </a:prstGeom>
          <a:noFill/>
        </p:spPr>
        <p:txBody>
          <a:bodyPr wrap="square" tIns="0" bIns="0" lIns="0" rIns="0">
            <a:spAutoFit/>
          </a:bodyPr>
          <a:lstStyle/>
          <a:p>
            <a:pPr>
              <a:defRPr sz="950" b="1">
                <a:solidFill>
                  <a:srgbClr val="166534"/>
                </a:solidFill>
                <a:latin typeface="Helvetica"/>
              </a:defRPr>
            </a:pPr>
            <a:r>
              <a:t>💡 HOW TO EXPLAIN TO THE PROFESSOR IN 20 SECONDS (BENCHMARK TABLE TAKEAWAY):</a:t>
            </a:r>
          </a:p>
          <a:p>
            <a:pPr>
              <a:defRPr sz="1000">
                <a:solidFill>
                  <a:srgbClr val="0F172A"/>
                </a:solidFill>
                <a:latin typeface="Arial"/>
              </a:defRPr>
            </a:pPr>
            <a:r>
              <a:t>Explain to the professor: 'This table summarizes the 40 experimental runs. Look at Fixed-Time in column 3: it is worse than the baseline on almost every metric (+7.9% lag, +11.7% wait time). In contrast, CityMind Model A beats SUMO Actuated across the board with p=0.002 statistical significance.'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solidFill>
              <a:srgbClr val="F8FA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411480"/>
            <a:ext cx="2926080" cy="292608"/>
          </a:xfrm>
          <a:prstGeom prst="roundRect">
            <a:avLst/>
          </a:prstGeom>
          <a:solidFill>
            <a:srgbClr val="EFF6FF"/>
          </a:solidFill>
          <a:ln>
            <a:solidFill>
              <a:srgbClr val="EFF6FF"/>
            </a:solidFill>
          </a:ln>
        </p:spPr>
        <p:style>
          <a:lnRef idx="1">
            <a:schemeClr val="accent1"/>
          </a:lnRef>
          <a:fillRef idx="3">
            <a:schemeClr val="accent1"/>
          </a:fillRef>
          <a:effectRef idx="2">
            <a:schemeClr val="accent1"/>
          </a:effectRef>
          <a:fontRef idx="minor">
            <a:schemeClr val="lt1"/>
          </a:fontRef>
        </p:style>
        <p:txBody>
          <a:bodyPr rtlCol="0" anchor="ctr" tIns="0" bIns="0" lIns="0" rIns="0" wrap="square"/>
          <a:lstStyle/>
          <a:p>
            <a:pPr algn="ctr">
              <a:defRPr sz="950" b="1">
                <a:solidFill>
                  <a:srgbClr val="1D4ED8"/>
                </a:solidFill>
                <a:latin typeface="Helvetica"/>
              </a:defRPr>
            </a:pPr>
            <a:r>
              <a:t>ENGINEERING &amp; REPRODUCIBILITY</a:t>
            </a:r>
          </a:p>
        </p:txBody>
      </p:sp>
      <p:sp>
        <p:nvSpPr>
          <p:cNvPr id="4" name="TextBox 3"/>
          <p:cNvSpPr txBox="1"/>
          <p:nvPr/>
        </p:nvSpPr>
        <p:spPr>
          <a:xfrm>
            <a:off x="10515600" y="365760"/>
            <a:ext cx="914400" cy="320040"/>
          </a:xfrm>
          <a:prstGeom prst="rect">
            <a:avLst/>
          </a:prstGeom>
          <a:noFill/>
        </p:spPr>
        <p:txBody>
          <a:bodyPr wrap="none">
            <a:spAutoFit/>
          </a:bodyPr>
          <a:lstStyle/>
          <a:p>
            <a:pPr algn="r">
              <a:defRPr sz="1000">
                <a:solidFill>
                  <a:srgbClr val="64748B"/>
                </a:solidFill>
                <a:latin typeface="Arial"/>
              </a:defRPr>
            </a:pPr>
            <a:r>
              <a:t>17 / 18</a:t>
            </a:r>
          </a:p>
        </p:txBody>
      </p:sp>
      <p:sp>
        <p:nvSpPr>
          <p:cNvPr id="5" name="TextBox 4"/>
          <p:cNvSpPr txBox="1"/>
          <p:nvPr/>
        </p:nvSpPr>
        <p:spPr>
          <a:xfrm>
            <a:off x="731520" y="777240"/>
            <a:ext cx="10728655" cy="868680"/>
          </a:xfrm>
          <a:prstGeom prst="rect">
            <a:avLst/>
          </a:prstGeom>
          <a:noFill/>
        </p:spPr>
        <p:txBody>
          <a:bodyPr wrap="square" tIns="0" bIns="0" lIns="0" rIns="0">
            <a:spAutoFit/>
          </a:bodyPr>
          <a:lstStyle/>
          <a:p>
            <a:pPr>
              <a:defRPr sz="2100" b="1">
                <a:solidFill>
                  <a:srgbClr val="0F172A"/>
                </a:solidFill>
                <a:latin typeface="Helvetica"/>
              </a:defRPr>
            </a:pPr>
            <a:r>
              <a:t>Modular Codebase Architecture &amp; Live Execution</a:t>
            </a:r>
          </a:p>
          <a:p>
            <a:pPr>
              <a:defRPr sz="1150">
                <a:solidFill>
                  <a:srgbClr val="64748B"/>
                </a:solidFill>
                <a:latin typeface="Arial"/>
              </a:defRPr>
            </a:pPr>
            <a:r>
              <a:t>Clean modular software design with verified reproducibility commands</a:t>
            </a:r>
          </a:p>
        </p:txBody>
      </p:sp>
      <p:sp>
        <p:nvSpPr>
          <p:cNvPr id="6" name="Rounded Rectangle 5"/>
          <p:cNvSpPr/>
          <p:nvPr/>
        </p:nvSpPr>
        <p:spPr>
          <a:xfrm>
            <a:off x="731520" y="1737360"/>
            <a:ext cx="5242255" cy="361188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01952"/>
            <a:ext cx="4876495" cy="3282696"/>
          </a:xfrm>
          <a:prstGeom prst="rect">
            <a:avLst/>
          </a:prstGeom>
          <a:noFill/>
        </p:spPr>
        <p:txBody>
          <a:bodyPr wrap="square">
            <a:spAutoFit/>
          </a:bodyPr>
          <a:lstStyle/>
          <a:p>
            <a:pPr>
              <a:defRPr sz="1350" b="1">
                <a:solidFill>
                  <a:srgbClr val="2A78D6"/>
                </a:solidFill>
                <a:latin typeface="Helvetica"/>
              </a:defRPr>
            </a:pPr>
            <a:r>
              <a:t>Modular Codebase Architecture 📂</a:t>
            </a:r>
          </a:p>
          <a:p>
            <a:pPr>
              <a:defRPr sz="900">
                <a:solidFill>
                  <a:srgbClr val="0F172A"/>
                </a:solidFill>
              </a:defRPr>
            </a:pPr>
            <a:r>
              <a:t>• src/agents/ippo_agent.py: PettingZoo-to-VecEnv wrapper, GAE calculator, and training harness.</a:t>
            </a:r>
          </a:p>
          <a:p>
            <a:pPr>
              <a:defRPr sz="900">
                <a:solidFill>
                  <a:srgbClr val="0F172A"/>
                </a:solidFill>
              </a:defRPr>
            </a:pPr>
            <a:r>
              <a:t>• src/agents/split_clip.py: Our custom optimizer performing decoupled Actor/Critic gradient norm clipping.</a:t>
            </a:r>
          </a:p>
          <a:p>
            <a:pPr>
              <a:defRPr sz="900">
                <a:solidFill>
                  <a:srgbClr val="0F172A"/>
                </a:solidFill>
              </a:defRPr>
            </a:pPr>
            <a:r>
              <a:t>• src/environment/sumo_connection.py: Lazy TraCI / libsumo socket proxy with automated fallback.</a:t>
            </a:r>
          </a:p>
          <a:p>
            <a:pPr>
              <a:defRPr sz="900">
                <a:solidFill>
                  <a:srgbClr val="0F172A"/>
                </a:solidFill>
              </a:defRPr>
            </a:pPr>
            <a:r>
              <a:t>• src/environment/decentralized_sumo_env.py: 98-agent PettingZoo parallel traffic environment.</a:t>
            </a:r>
          </a:p>
          <a:p>
            <a:pPr>
              <a:defRPr sz="900">
                <a:solidFill>
                  <a:srgbClr val="0F172A"/>
                </a:solidFill>
              </a:defRPr>
            </a:pPr>
            <a:r>
              <a:t>• src/environment/local_observation.py: 22-dim feature extractor and 300-meter feeder queue crawler.</a:t>
            </a:r>
          </a:p>
          <a:p>
            <a:pPr>
              <a:defRPr sz="900">
                <a:solidFill>
                  <a:srgbClr val="0F172A"/>
                </a:solidFill>
              </a:defRPr>
            </a:pPr>
            <a:r>
              <a:t>• src/environment/local_reward.py: Delay-cost reward function with boundary backlog tracking.</a:t>
            </a:r>
          </a:p>
          <a:p>
            <a:pPr>
              <a:defRPr sz="900">
                <a:solidFill>
                  <a:srgbClr val="0F172A"/>
                </a:solidFill>
              </a:defRPr>
            </a:pPr>
            <a:r>
              <a:t>• src/environment/safety.py: Deterministic clearance and min/max green state machine.</a:t>
            </a:r>
          </a:p>
          <a:p>
            <a:pPr>
              <a:defRPr sz="900">
                <a:solidFill>
                  <a:srgbClr val="0F172A"/>
                </a:solidFill>
              </a:defRPr>
            </a:pPr>
            <a:r>
              <a:t>• src/evaluation/drain_metrics.py: Survivor-bias-free scheduled demand evaluation.</a:t>
            </a:r>
          </a:p>
        </p:txBody>
      </p:sp>
      <p:sp>
        <p:nvSpPr>
          <p:cNvPr id="8" name="Rounded Rectangle 7"/>
          <p:cNvSpPr/>
          <p:nvPr/>
        </p:nvSpPr>
        <p:spPr>
          <a:xfrm>
            <a:off x="6217920" y="1737360"/>
            <a:ext cx="5242255" cy="361188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1901952"/>
            <a:ext cx="4876495" cy="3282696"/>
          </a:xfrm>
          <a:prstGeom prst="rect">
            <a:avLst/>
          </a:prstGeom>
          <a:noFill/>
        </p:spPr>
        <p:txBody>
          <a:bodyPr wrap="square">
            <a:spAutoFit/>
          </a:bodyPr>
          <a:lstStyle/>
          <a:p>
            <a:pPr>
              <a:defRPr sz="1350" b="1">
                <a:solidFill>
                  <a:srgbClr val="10B981"/>
                </a:solidFill>
                <a:latin typeface="Helvetica"/>
              </a:defRPr>
            </a:pPr>
            <a:r>
              <a:t>Live Verification &amp; Reproduction Commands 💻</a:t>
            </a:r>
          </a:p>
          <a:p>
            <a:pPr>
              <a:defRPr sz="950">
                <a:solidFill>
                  <a:srgbClr val="0F172A"/>
                </a:solidFill>
              </a:defRPr>
            </a:pPr>
            <a:r>
              <a:t>100% Runnable &amp; Self-Contained: Managed with uv and virtual environment (.venv).</a:t>
            </a:r>
          </a:p>
          <a:p>
            <a:pPr>
              <a:defRPr sz="950">
                <a:solidFill>
                  <a:srgbClr val="0F172A"/>
                </a:solidFill>
              </a:defRPr>
            </a:pPr>
            <a:r>
              <a:t>Command 1: Run 10-Seed Head-to-Head Evaluation:</a:t>
            </a:r>
          </a:p>
          <a:p>
            <a:pPr>
              <a:defRPr sz="950">
                <a:solidFill>
                  <a:srgbClr val="1D4ED8"/>
                </a:solidFill>
                <a:latin typeface="Courier New"/>
              </a:defRPr>
            </a:pPr>
            <a:r>
              <a:t>  uv run python scripts/evaluate.py --help</a:t>
            </a:r>
          </a:p>
          <a:p>
            <a:pPr>
              <a:defRPr sz="950">
                <a:solidFill>
                  <a:srgbClr val="0F172A"/>
                </a:solidFill>
              </a:defRPr>
            </a:pPr>
            <a:r>
              <a:t>Command 2: Launch Live SUMO Visual GUI Demo:</a:t>
            </a:r>
          </a:p>
          <a:p>
            <a:pPr>
              <a:defRPr sz="950">
                <a:solidFill>
                  <a:srgbClr val="1D4ED8"/>
                </a:solidFill>
                <a:latin typeface="Courier New"/>
              </a:defRPr>
            </a:pPr>
            <a:r>
              <a:t>  uv run python scripts/run_visual_demo.py --render</a:t>
            </a:r>
          </a:p>
          <a:p>
            <a:pPr>
              <a:defRPr sz="950">
                <a:solidFill>
                  <a:srgbClr val="0F172A"/>
                </a:solidFill>
              </a:defRPr>
            </a:pPr>
            <a:r>
              <a:t>Command 3: Train IPPO from Scratch:</a:t>
            </a:r>
          </a:p>
          <a:p>
            <a:pPr>
              <a:defRPr sz="950">
                <a:solidFill>
                  <a:srgbClr val="1D4ED8"/>
                </a:solidFill>
                <a:latin typeface="Courier New"/>
              </a:defRPr>
            </a:pPr>
            <a:r>
              <a:t>  uv run python scripts/run_ippo_training.py</a:t>
            </a:r>
          </a:p>
          <a:p>
            <a:pPr>
              <a:defRPr sz="950">
                <a:solidFill>
                  <a:srgbClr val="0F172A"/>
                </a:solidFill>
              </a:defRPr>
            </a:pPr>
            <a:r>
              <a:t>Command 4: Re-generate Professor Figures &amp; Report:</a:t>
            </a:r>
          </a:p>
          <a:p>
            <a:pPr>
              <a:defRPr sz="950">
                <a:solidFill>
                  <a:srgbClr val="1D4ED8"/>
                </a:solidFill>
                <a:latin typeface="Courier New"/>
              </a:defRPr>
            </a:pPr>
            <a:r>
              <a:t>  uv run python docs/professor_report/make_figures.py</a:t>
            </a:r>
          </a:p>
          <a:p>
            <a:pPr>
              <a:defRPr sz="950">
                <a:solidFill>
                  <a:srgbClr val="0F172A"/>
                </a:solidFill>
              </a:defRPr>
            </a:pPr>
            <a:r>
              <a:t>Automated CI &amp; Testing: Passes pytest, ruff formatting, and model contract validation.</a:t>
            </a:r>
          </a:p>
        </p:txBody>
      </p:sp>
      <p:sp>
        <p:nvSpPr>
          <p:cNvPr id="10" name="Rounded Rectangle 9"/>
          <p:cNvSpPr/>
          <p:nvPr/>
        </p:nvSpPr>
        <p:spPr>
          <a:xfrm>
            <a:off x="731520" y="5532120"/>
            <a:ext cx="10728655" cy="914400"/>
          </a:xfrm>
          <a:prstGeom prst="roundRect">
            <a:avLst/>
          </a:prstGeom>
          <a:solidFill>
            <a:srgbClr val="F0FDF4"/>
          </a:solidFill>
          <a:ln w="15240">
            <a:solidFill>
              <a:srgbClr val="BBF7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5605272"/>
            <a:ext cx="10454335" cy="768096"/>
          </a:xfrm>
          <a:prstGeom prst="rect">
            <a:avLst/>
          </a:prstGeom>
          <a:noFill/>
        </p:spPr>
        <p:txBody>
          <a:bodyPr wrap="square" tIns="0" bIns="0" lIns="0" rIns="0">
            <a:spAutoFit/>
          </a:bodyPr>
          <a:lstStyle/>
          <a:p>
            <a:pPr>
              <a:defRPr sz="950" b="1">
                <a:solidFill>
                  <a:srgbClr val="166534"/>
                </a:solidFill>
                <a:latin typeface="Helvetica"/>
              </a:defRPr>
            </a:pPr>
            <a:r>
              <a:t>💡 HOW TO EXPLAIN TO THE PROFESSOR IN 20 SECONDS (SOFTWARE ENGINEERING RIGOR):</a:t>
            </a:r>
          </a:p>
          <a:p>
            <a:pPr>
              <a:defRPr sz="1000">
                <a:solidFill>
                  <a:srgbClr val="0F172A"/>
                </a:solidFill>
                <a:latin typeface="Arial"/>
              </a:defRPr>
            </a:pPr>
            <a:r>
              <a:t>Explain to the professor: 'Everything in this project is modular, fully typed, unit-tested, and reproducible with simple uv run CLI commands. If you would like to see a live demonstration right now, we can run the visual GUI demo or inspection script immediately.'</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92C"/>
          </a:solidFill>
          <a:ln>
            <a:solidFill>
              <a:srgbClr val="0B19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914400" y="731520"/>
            <a:ext cx="1097280" cy="54864"/>
          </a:xfrm>
          <a:prstGeom prst="rect">
            <a:avLst/>
          </a:prstGeom>
          <a:solidFill>
            <a:srgbClr val="10B981"/>
          </a:solidFill>
          <a:ln>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914400"/>
            <a:ext cx="10332720" cy="1097280"/>
          </a:xfrm>
          <a:prstGeom prst="rect">
            <a:avLst/>
          </a:prstGeom>
          <a:noFill/>
        </p:spPr>
        <p:txBody>
          <a:bodyPr wrap="square">
            <a:spAutoFit/>
          </a:bodyPr>
          <a:lstStyle/>
          <a:p>
            <a:pPr>
              <a:defRPr sz="2800" b="1">
                <a:solidFill>
                  <a:srgbClr val="FFFFFF"/>
                </a:solidFill>
                <a:latin typeface="Helvetica"/>
              </a:defRPr>
            </a:pPr>
            <a:r>
              <a:t>Conclusion: Why CityMind AI Succeeds</a:t>
            </a:r>
          </a:p>
          <a:p>
            <a:pPr>
              <a:defRPr sz="1300">
                <a:solidFill>
                  <a:srgbClr val="CBD5E1"/>
                </a:solidFill>
                <a:latin typeface="Arial"/>
              </a:defRPr>
            </a:pPr>
            <a:r>
              <a:t>Summary of key contributions and theoretical breakthroughs in city-wide traffic control</a:t>
            </a:r>
          </a:p>
        </p:txBody>
      </p:sp>
      <p:sp>
        <p:nvSpPr>
          <p:cNvPr id="5" name="Rounded Rectangle 4"/>
          <p:cNvSpPr/>
          <p:nvPr/>
        </p:nvSpPr>
        <p:spPr>
          <a:xfrm>
            <a:off x="914400" y="2103120"/>
            <a:ext cx="5029200" cy="1645920"/>
          </a:xfrm>
          <a:prstGeom prst="roundRect">
            <a:avLst/>
          </a:prstGeom>
          <a:solidFill>
            <a:srgbClr val="182235"/>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tIns="164592" lIns="182880" rIns="182880"/>
          <a:lstStyle/>
          <a:p>
            <a:pPr algn="ctr">
              <a:defRPr sz="1350" b="1">
                <a:solidFill>
                  <a:srgbClr val="2A78D6"/>
                </a:solidFill>
                <a:latin typeface="Helvetica"/>
              </a:defRPr>
            </a:pPr>
            <a:r>
              <a:t>1. Real-World Scale 🇩🇪</a:t>
            </a:r>
          </a:p>
          <a:p>
            <a:pPr>
              <a:defRPr sz="1000">
                <a:solidFill>
                  <a:srgbClr val="E2E8F0"/>
                </a:solidFill>
                <a:latin typeface="Arial"/>
              </a:defRPr>
            </a:pPr>
            <a:r>
              <a:t>Evaluated on Ingolstadt InTAS: 98 heterogeneous intersections, &gt;15k vehicles, Krauss car-following physics, beating calibrated induction loops.</a:t>
            </a:r>
          </a:p>
        </p:txBody>
      </p:sp>
      <p:sp>
        <p:nvSpPr>
          <p:cNvPr id="6" name="Rounded Rectangle 5"/>
          <p:cNvSpPr/>
          <p:nvPr/>
        </p:nvSpPr>
        <p:spPr>
          <a:xfrm>
            <a:off x="6217920" y="2103120"/>
            <a:ext cx="5029200" cy="1645920"/>
          </a:xfrm>
          <a:prstGeom prst="roundRect">
            <a:avLst/>
          </a:prstGeom>
          <a:solidFill>
            <a:srgbClr val="182235"/>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tIns="164592" lIns="182880" rIns="182880"/>
          <a:lstStyle/>
          <a:p>
            <a:pPr algn="ctr">
              <a:defRPr sz="1350" b="1">
                <a:solidFill>
                  <a:srgbClr val="2A78D6"/>
                </a:solidFill>
                <a:latin typeface="Helvetica"/>
              </a:defRPr>
            </a:pPr>
            <a:r>
              <a:t>2. Solid RL Theory 📚</a:t>
            </a:r>
          </a:p>
          <a:p>
            <a:pPr>
              <a:defRPr sz="1000">
                <a:solidFill>
                  <a:srgbClr val="E2E8F0"/>
                </a:solidFill>
                <a:latin typeface="Arial"/>
              </a:defRPr>
            </a:pPr>
            <a:r>
              <a:t>Formulated as Dec-POMDP with parameter-shared IPPO, GAE variance reduction, and clipped surrogate loss grounded in Ravichandiran (2018).</a:t>
            </a:r>
          </a:p>
        </p:txBody>
      </p:sp>
      <p:sp>
        <p:nvSpPr>
          <p:cNvPr id="7" name="Rounded Rectangle 6"/>
          <p:cNvSpPr/>
          <p:nvPr/>
        </p:nvSpPr>
        <p:spPr>
          <a:xfrm>
            <a:off x="914400" y="3931920"/>
            <a:ext cx="5029200" cy="1645920"/>
          </a:xfrm>
          <a:prstGeom prst="roundRect">
            <a:avLst/>
          </a:prstGeom>
          <a:solidFill>
            <a:srgbClr val="182235"/>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tIns="164592" lIns="182880" rIns="182880"/>
          <a:lstStyle/>
          <a:p>
            <a:pPr algn="ctr">
              <a:defRPr sz="1350" b="1">
                <a:solidFill>
                  <a:srgbClr val="2A78D6"/>
                </a:solidFill>
                <a:latin typeface="Helvetica"/>
              </a:defRPr>
            </a:pPr>
            <a:r>
              <a:t>3. Engineering Breakthroughs 🛠️</a:t>
            </a:r>
          </a:p>
          <a:p>
            <a:pPr>
              <a:defRPr sz="1000">
                <a:solidFill>
                  <a:srgbClr val="E2E8F0"/>
                </a:solidFill>
                <a:latin typeface="Arial"/>
              </a:defRPr>
            </a:pPr>
            <a:r>
              <a:t>Invented Split Gradient Clipping (fixing 7,600x actor suppression), 300m feeder walker, delay-cost reward, and deterministic safety layer.</a:t>
            </a:r>
          </a:p>
        </p:txBody>
      </p:sp>
      <p:sp>
        <p:nvSpPr>
          <p:cNvPr id="8" name="Rounded Rectangle 7"/>
          <p:cNvSpPr/>
          <p:nvPr/>
        </p:nvSpPr>
        <p:spPr>
          <a:xfrm>
            <a:off x="6217920" y="3931920"/>
            <a:ext cx="5029200" cy="1645920"/>
          </a:xfrm>
          <a:prstGeom prst="roundRect">
            <a:avLst/>
          </a:prstGeom>
          <a:solidFill>
            <a:srgbClr val="182235"/>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tIns="164592" lIns="182880" rIns="182880"/>
          <a:lstStyle/>
          <a:p>
            <a:pPr algn="ctr">
              <a:defRPr sz="1350" b="1">
                <a:solidFill>
                  <a:srgbClr val="10B981"/>
                </a:solidFill>
                <a:latin typeface="Helvetica"/>
              </a:defRPr>
            </a:pPr>
            <a:r>
              <a:t>4. Decisive 10-Seed Victory 🏆</a:t>
            </a:r>
          </a:p>
          <a:p>
            <a:pPr>
              <a:defRPr sz="1000">
                <a:solidFill>
                  <a:srgbClr val="E2E8F0"/>
                </a:solidFill>
                <a:latin typeface="Arial"/>
              </a:defRPr>
            </a:pPr>
            <a:r>
              <a:t>Slashing lag by -41.4s (-15%) and wait times by -41.1%, clearing 256 trapped vehicles, winning 10/10 seeds with p=0.002.</a:t>
            </a:r>
          </a:p>
        </p:txBody>
      </p:sp>
      <p:sp>
        <p:nvSpPr>
          <p:cNvPr id="9" name="Rounded Rectangle 8"/>
          <p:cNvSpPr/>
          <p:nvPr/>
        </p:nvSpPr>
        <p:spPr>
          <a:xfrm>
            <a:off x="914400" y="5760720"/>
            <a:ext cx="10332720" cy="640080"/>
          </a:xfrm>
          <a:prstGeom prst="roundRect">
            <a:avLst/>
          </a:prstGeom>
          <a:solidFill>
            <a:srgbClr val="1E293B"/>
          </a:solidFill>
          <a:ln>
            <a:solidFill>
              <a:srgbClr val="2A78D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latin typeface="Helvetica"/>
              </a:defRPr>
            </a:pPr>
            <a:r>
              <a:t>🎯 THANK YOU, PROFESSOR. READY FOR YOUR QUESTIONS &amp; DISCUSSION.</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solidFill>
              <a:srgbClr val="F8FA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411480"/>
            <a:ext cx="2926080" cy="292608"/>
          </a:xfrm>
          <a:prstGeom prst="roundRect">
            <a:avLst/>
          </a:prstGeom>
          <a:solidFill>
            <a:srgbClr val="EFF6FF"/>
          </a:solidFill>
          <a:ln>
            <a:solidFill>
              <a:srgbClr val="EFF6FF"/>
            </a:solidFill>
          </a:ln>
        </p:spPr>
        <p:style>
          <a:lnRef idx="1">
            <a:schemeClr val="accent1"/>
          </a:lnRef>
          <a:fillRef idx="3">
            <a:schemeClr val="accent1"/>
          </a:fillRef>
          <a:effectRef idx="2">
            <a:schemeClr val="accent1"/>
          </a:effectRef>
          <a:fontRef idx="minor">
            <a:schemeClr val="lt1"/>
          </a:fontRef>
        </p:style>
        <p:txBody>
          <a:bodyPr rtlCol="0" anchor="ctr" tIns="0" bIns="0" lIns="0" rIns="0" wrap="square"/>
          <a:lstStyle/>
          <a:p>
            <a:pPr algn="ctr">
              <a:defRPr sz="950" b="1">
                <a:solidFill>
                  <a:srgbClr val="1D4ED8"/>
                </a:solidFill>
                <a:latin typeface="Helvetica"/>
              </a:defRPr>
            </a:pPr>
            <a:r>
              <a:t>APPENDIX &amp; ORAL DEFENSE REFERENCE</a:t>
            </a:r>
          </a:p>
        </p:txBody>
      </p:sp>
      <p:sp>
        <p:nvSpPr>
          <p:cNvPr id="4" name="TextBox 3"/>
          <p:cNvSpPr txBox="1"/>
          <p:nvPr/>
        </p:nvSpPr>
        <p:spPr>
          <a:xfrm>
            <a:off x="10515600" y="365760"/>
            <a:ext cx="914400" cy="320040"/>
          </a:xfrm>
          <a:prstGeom prst="rect">
            <a:avLst/>
          </a:prstGeom>
          <a:noFill/>
        </p:spPr>
        <p:txBody>
          <a:bodyPr wrap="none">
            <a:spAutoFit/>
          </a:bodyPr>
          <a:lstStyle/>
          <a:p>
            <a:pPr algn="r">
              <a:defRPr sz="1000">
                <a:solidFill>
                  <a:srgbClr val="64748B"/>
                </a:solidFill>
                <a:latin typeface="Arial"/>
              </a:defRPr>
            </a:pPr>
            <a:r>
              <a:t>19 / 18</a:t>
            </a:r>
          </a:p>
        </p:txBody>
      </p:sp>
      <p:sp>
        <p:nvSpPr>
          <p:cNvPr id="5" name="TextBox 4"/>
          <p:cNvSpPr txBox="1"/>
          <p:nvPr/>
        </p:nvSpPr>
        <p:spPr>
          <a:xfrm>
            <a:off x="731520" y="777240"/>
            <a:ext cx="10728655" cy="868680"/>
          </a:xfrm>
          <a:prstGeom prst="rect">
            <a:avLst/>
          </a:prstGeom>
          <a:noFill/>
        </p:spPr>
        <p:txBody>
          <a:bodyPr wrap="square" tIns="0" bIns="0" lIns="0" rIns="0">
            <a:spAutoFit/>
          </a:bodyPr>
          <a:lstStyle/>
          <a:p>
            <a:pPr>
              <a:defRPr sz="2100" b="1">
                <a:solidFill>
                  <a:srgbClr val="0F172A"/>
                </a:solidFill>
                <a:latin typeface="Helvetica"/>
              </a:defRPr>
            </a:pPr>
            <a:r>
              <a:t>Professor Q&amp;A Cheat Sheet: Rapid-Fire Answers</a:t>
            </a:r>
          </a:p>
          <a:p>
            <a:pPr>
              <a:defRPr sz="1150">
                <a:solidFill>
                  <a:srgbClr val="64748B"/>
                </a:solidFill>
                <a:latin typeface="Arial"/>
              </a:defRPr>
            </a:pPr>
            <a:r>
              <a:t>Targeted technical answers for anticipated professor questions</a:t>
            </a:r>
          </a:p>
        </p:txBody>
      </p:sp>
      <p:sp>
        <p:nvSpPr>
          <p:cNvPr id="6" name="Rounded Rectangle 5"/>
          <p:cNvSpPr/>
          <p:nvPr/>
        </p:nvSpPr>
        <p:spPr>
          <a:xfrm>
            <a:off x="731520" y="1737360"/>
            <a:ext cx="3328416" cy="17373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47088"/>
            <a:ext cx="3054096" cy="1517904"/>
          </a:xfrm>
          <a:prstGeom prst="rect">
            <a:avLst/>
          </a:prstGeom>
          <a:noFill/>
        </p:spPr>
        <p:txBody>
          <a:bodyPr wrap="square">
            <a:spAutoFit/>
          </a:bodyPr>
          <a:lstStyle/>
          <a:p>
            <a:pPr>
              <a:defRPr sz="1100" b="1">
                <a:solidFill>
                  <a:srgbClr val="1D4ED8"/>
                </a:solidFill>
                <a:latin typeface="Helvetica"/>
              </a:defRPr>
            </a:pPr>
            <a:r>
              <a:t>Q1: Why not Centralized DQN?</a:t>
            </a:r>
          </a:p>
          <a:p>
            <a:pPr>
              <a:defRPr sz="850">
                <a:solidFill>
                  <a:srgbClr val="0F172A"/>
                </a:solidFill>
                <a:latin typeface="Arial"/>
              </a:defRPr>
            </a:pPr>
            <a:r>
              <a:t>Centralized joint action space is 2^98 ≈ 3.16 × 10^29 actions. Finding argmax_a Q(s,a) is NP-hard. In multi-agent, off-policy experience replay buffers become invalid due to environment non-stationarity.</a:t>
            </a:r>
          </a:p>
        </p:txBody>
      </p:sp>
      <p:sp>
        <p:nvSpPr>
          <p:cNvPr id="8" name="Rounded Rectangle 7"/>
          <p:cNvSpPr/>
          <p:nvPr/>
        </p:nvSpPr>
        <p:spPr>
          <a:xfrm>
            <a:off x="4425696" y="1737360"/>
            <a:ext cx="3328416" cy="17373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62856" y="1847088"/>
            <a:ext cx="3054096" cy="1517904"/>
          </a:xfrm>
          <a:prstGeom prst="rect">
            <a:avLst/>
          </a:prstGeom>
          <a:noFill/>
        </p:spPr>
        <p:txBody>
          <a:bodyPr wrap="square">
            <a:spAutoFit/>
          </a:bodyPr>
          <a:lstStyle/>
          <a:p>
            <a:pPr>
              <a:defRPr sz="1100" b="1">
                <a:solidFill>
                  <a:srgbClr val="1D4ED8"/>
                </a:solidFill>
                <a:latin typeface="Helvetica"/>
              </a:defRPr>
            </a:pPr>
            <a:r>
              <a:t>Q2: What if TraCI socket drops or lags?</a:t>
            </a:r>
          </a:p>
          <a:p>
            <a:pPr>
              <a:defRPr sz="850">
                <a:solidFill>
                  <a:srgbClr val="0F172A"/>
                </a:solidFill>
                <a:latin typeface="Arial"/>
              </a:defRPr>
            </a:pPr>
            <a:r>
              <a:t>We wrapped TraCI in a resilient connection hub (sumo_connection.py). For training, we use libsumo—a direct C++ SWIG binding that runs in-process, eliminating TCP sockets and network latency entirely.</a:t>
            </a:r>
          </a:p>
        </p:txBody>
      </p:sp>
      <p:sp>
        <p:nvSpPr>
          <p:cNvPr id="10" name="Rounded Rectangle 9"/>
          <p:cNvSpPr/>
          <p:nvPr/>
        </p:nvSpPr>
        <p:spPr>
          <a:xfrm>
            <a:off x="8119872" y="1737360"/>
            <a:ext cx="3328416" cy="17373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57032" y="1847088"/>
            <a:ext cx="3054096" cy="1517904"/>
          </a:xfrm>
          <a:prstGeom prst="rect">
            <a:avLst/>
          </a:prstGeom>
          <a:noFill/>
        </p:spPr>
        <p:txBody>
          <a:bodyPr wrap="square">
            <a:spAutoFit/>
          </a:bodyPr>
          <a:lstStyle/>
          <a:p>
            <a:pPr>
              <a:defRPr sz="1100" b="1">
                <a:solidFill>
                  <a:srgbClr val="1D4ED8"/>
                </a:solidFill>
                <a:latin typeface="Helvetica"/>
              </a:defRPr>
            </a:pPr>
            <a:r>
              <a:t>Q3: Why Tanh activations in MLP?</a:t>
            </a:r>
          </a:p>
          <a:p>
            <a:pPr>
              <a:defRPr sz="850">
                <a:solidFill>
                  <a:srgbClr val="0F172A"/>
                </a:solidFill>
                <a:latin typeface="Arial"/>
              </a:defRPr>
            </a:pPr>
            <a:r>
              <a:t>Tanh produces zero-centered, smooth gradients bounded in [-1, 1]. In continuous-control PPO, ReLU often leads to dead neurons and aggressive policy shifts, whereas Tanh ensures stable advantage updates.</a:t>
            </a:r>
          </a:p>
        </p:txBody>
      </p:sp>
      <p:sp>
        <p:nvSpPr>
          <p:cNvPr id="12" name="Rounded Rectangle 11"/>
          <p:cNvSpPr/>
          <p:nvPr/>
        </p:nvSpPr>
        <p:spPr>
          <a:xfrm>
            <a:off x="731520" y="3657600"/>
            <a:ext cx="3328416" cy="17373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8680" y="3767328"/>
            <a:ext cx="3054096" cy="1517904"/>
          </a:xfrm>
          <a:prstGeom prst="rect">
            <a:avLst/>
          </a:prstGeom>
          <a:noFill/>
        </p:spPr>
        <p:txBody>
          <a:bodyPr wrap="square">
            <a:spAutoFit/>
          </a:bodyPr>
          <a:lstStyle/>
          <a:p>
            <a:pPr>
              <a:defRPr sz="1100" b="1">
                <a:solidFill>
                  <a:srgbClr val="1D4ED8"/>
                </a:solidFill>
                <a:latin typeface="Helvetica"/>
              </a:defRPr>
            </a:pPr>
            <a:r>
              <a:t>Q4: How does Safety Layer prevent crashes?</a:t>
            </a:r>
          </a:p>
          <a:p>
            <a:pPr>
              <a:defRPr sz="850">
                <a:solidFill>
                  <a:srgbClr val="0F172A"/>
                </a:solidFill>
                <a:latin typeface="Arial"/>
              </a:defRPr>
            </a:pPr>
            <a:r>
              <a:t>The RL agent never sets light colors directly. SafetyLayer implements a deterministic state machine: when advancing, it strictly inserts authentic yellow (3-4s) and all-red clearance phases before activating the next green.</a:t>
            </a:r>
          </a:p>
        </p:txBody>
      </p:sp>
      <p:sp>
        <p:nvSpPr>
          <p:cNvPr id="14" name="Rounded Rectangle 13"/>
          <p:cNvSpPr/>
          <p:nvPr/>
        </p:nvSpPr>
        <p:spPr>
          <a:xfrm>
            <a:off x="4425696" y="3657600"/>
            <a:ext cx="3328416" cy="17373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62856" y="3767328"/>
            <a:ext cx="3054096" cy="1517904"/>
          </a:xfrm>
          <a:prstGeom prst="rect">
            <a:avLst/>
          </a:prstGeom>
          <a:noFill/>
        </p:spPr>
        <p:txBody>
          <a:bodyPr wrap="square">
            <a:spAutoFit/>
          </a:bodyPr>
          <a:lstStyle/>
          <a:p>
            <a:pPr>
              <a:defRPr sz="1100" b="1">
                <a:solidFill>
                  <a:srgbClr val="1D4ED8"/>
                </a:solidFill>
                <a:latin typeface="Helvetica"/>
              </a:defRPr>
            </a:pPr>
            <a:r>
              <a:t>Q5: Why GAE gamma=0.99 and lambda=0.95?</a:t>
            </a:r>
          </a:p>
          <a:p>
            <a:pPr>
              <a:defRPr sz="850">
                <a:solidFill>
                  <a:srgbClr val="0F172A"/>
                </a:solidFill>
                <a:latin typeface="Arial"/>
              </a:defRPr>
            </a:pPr>
            <a:r>
              <a:t>Grounded in Ravichandiran Ch. 10: gamma=0.99 ensures the policy values clearing future downstream queues. lambda=0.95 optimally trades off Temporal Difference bias against Monte Carlo rollout variance.</a:t>
            </a:r>
          </a:p>
        </p:txBody>
      </p:sp>
      <p:sp>
        <p:nvSpPr>
          <p:cNvPr id="16" name="Rounded Rectangle 15"/>
          <p:cNvSpPr/>
          <p:nvPr/>
        </p:nvSpPr>
        <p:spPr>
          <a:xfrm>
            <a:off x="8119872" y="3657600"/>
            <a:ext cx="3328416" cy="17373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57032" y="3767328"/>
            <a:ext cx="3054096" cy="1517904"/>
          </a:xfrm>
          <a:prstGeom prst="rect">
            <a:avLst/>
          </a:prstGeom>
          <a:noFill/>
        </p:spPr>
        <p:txBody>
          <a:bodyPr wrap="square">
            <a:spAutoFit/>
          </a:bodyPr>
          <a:lstStyle/>
          <a:p>
            <a:pPr>
              <a:defRPr sz="1100" b="1">
                <a:solidFill>
                  <a:srgbClr val="1D4ED8"/>
                </a:solidFill>
                <a:latin typeface="Helvetica"/>
              </a:defRPr>
            </a:pPr>
            <a:r>
              <a:t>Q6: Why are teleports noisy in results?</a:t>
            </a:r>
          </a:p>
          <a:p>
            <a:pPr>
              <a:defRPr sz="850">
                <a:solidFill>
                  <a:srgbClr val="0F172A"/>
                </a:solidFill>
                <a:latin typeface="Arial"/>
              </a:defRPr>
            </a:pPr>
            <a:r>
              <a:t>Teleports occur only when extreme gridlock persists for 300+ seconds. In a 1-hour run, teleports are rare (7.5 vs 13.3). They dropped by 43%, but due to high variance across seeds, the sign test is p=0.508 (directional).</a:t>
            </a:r>
          </a:p>
        </p:txBody>
      </p:sp>
      <p:sp>
        <p:nvSpPr>
          <p:cNvPr id="18" name="Rounded Rectangle 17"/>
          <p:cNvSpPr/>
          <p:nvPr/>
        </p:nvSpPr>
        <p:spPr>
          <a:xfrm>
            <a:off x="731520" y="5532120"/>
            <a:ext cx="10728655" cy="914400"/>
          </a:xfrm>
          <a:prstGeom prst="roundRect">
            <a:avLst/>
          </a:prstGeom>
          <a:solidFill>
            <a:srgbClr val="F0FDF4"/>
          </a:solidFill>
          <a:ln w="15240">
            <a:solidFill>
              <a:srgbClr val="BBF7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68680" y="5605272"/>
            <a:ext cx="10454335" cy="768096"/>
          </a:xfrm>
          <a:prstGeom prst="rect">
            <a:avLst/>
          </a:prstGeom>
          <a:noFill/>
        </p:spPr>
        <p:txBody>
          <a:bodyPr wrap="square" tIns="0" bIns="0" lIns="0" rIns="0">
            <a:spAutoFit/>
          </a:bodyPr>
          <a:lstStyle/>
          <a:p>
            <a:pPr>
              <a:defRPr sz="950" b="1">
                <a:solidFill>
                  <a:srgbClr val="166534"/>
                </a:solidFill>
                <a:latin typeface="Helvetica"/>
              </a:defRPr>
            </a:pPr>
            <a:r>
              <a:t>💡 HOW TO EXPLAIN TO THE PROFESSOR IN 20 SECONDS (ORAL DEFENSE STRATEGY):</a:t>
            </a:r>
          </a:p>
          <a:p>
            <a:pPr>
              <a:defRPr sz="1000">
                <a:solidFill>
                  <a:srgbClr val="0F172A"/>
                </a:solidFill>
                <a:latin typeface="Arial"/>
              </a:defRPr>
            </a:pPr>
            <a:r>
              <a:t>Tip for the student: 'If the professor asks any technical question, keep calm, refer to this slide, and connect your answer to: 1. Ravichandiran's book principles, 2. The physical realities of traffic in Ingolstadt, or 3. Our exact code implementation in src/.'</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